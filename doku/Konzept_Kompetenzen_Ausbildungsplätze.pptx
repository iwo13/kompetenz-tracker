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62" r:id="rId7"/>
    <p:sldId id="263" r:id="rId8"/>
    <p:sldId id="260" r:id="rId9"/>
    <p:sldId id="269" r:id="rId10"/>
    <p:sldId id="267" r:id="rId11"/>
    <p:sldId id="266" r:id="rId12"/>
    <p:sldId id="268" r:id="rId13"/>
    <p:sldId id="270" r:id="rId14"/>
    <p:sldId id="265" r:id="rId15"/>
    <p:sldId id="264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496"/>
    <a:srgbClr val="D88525"/>
    <a:srgbClr val="04418A"/>
    <a:srgbClr val="E2E4E8"/>
    <a:srgbClr val="D97706"/>
    <a:srgbClr val="DC2626"/>
    <a:srgbClr val="7C3AED"/>
    <a:srgbClr val="0D9488"/>
    <a:srgbClr val="1D4ED8"/>
    <a:srgbClr val="7AE2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8" autoAdjust="0"/>
    <p:restoredTop sz="94660"/>
  </p:normalViewPr>
  <p:slideViewPr>
    <p:cSldViewPr snapToGrid="0">
      <p:cViewPr>
        <p:scale>
          <a:sx n="125" d="100"/>
          <a:sy n="125" d="100"/>
        </p:scale>
        <p:origin x="309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6F7B85-00E3-4E04-BF0D-83A223612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D00A8F-CC3B-4B25-9775-AF2CA8FAF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C7B8DA-8BCD-40FF-963A-DD2EC1F5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B8AAF6-721C-4C66-8F2F-32D24E562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5FA3AA-C1CD-4F2B-997A-5582E207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2761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5E94D0-A14C-45F8-995A-C77D1D674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5380FE-9E47-4F56-8C3A-91A1D576E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B722E3-EA5C-4688-92F9-053A7678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EE1DF4-9C5D-478B-87E7-1AD80C44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713352-2CFF-4399-A2D7-CA69F7F0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447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601988-CDA7-47D2-9808-22CDE167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360FC73-A6D9-47A0-91AA-064A09A00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34AF90-C23C-4D35-9EB1-18768F64C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E73C2E-CEAC-4E3A-AE17-0D2260CE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D52D06-686F-4D06-8FC9-7B29F37CC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1215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F21AFD-1F4A-49E0-BC9D-33B8F43D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470DE6-E744-42AA-B139-6D863ADF9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6A17C6-092B-4DD9-B537-883673DDC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8D40B8-25A8-4569-B1DF-C3862D877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1F10FF-9F30-4576-B4E8-97090DD3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2731614-6D01-43D4-BBE3-A1E3E8A6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8415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9A2724-379F-4CDF-96F3-D37420763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79EA2E-3D37-4852-A24D-C4FD51DC6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C23F5B-555B-4FF9-8710-F7D9EC5FF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645CAD-9CCB-473A-96F0-CE129727E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49F02CB-2360-4747-AFD0-E681409A5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38751E1-3915-4302-B300-8B363FFB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A192AAF-E07D-4344-9C78-27CC1049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DE572C7-57FC-4ED0-9B2F-567F81ECD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44309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90300-0B3F-48DE-A7B0-E48869B28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2A2D2B2-C4F6-4F30-A0ED-B02AC829E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18D559-AE70-4B41-B441-FE63C476F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DCAC96-ABA1-4F81-BFEA-A74EF20B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1852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32E40E-0990-4654-BA62-BDBE3F41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6092EC-5CAC-406A-A03B-9B85BE6D2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4CC4E7-E1FC-4F64-A715-DAAF51E1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258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138F03-5EC2-468B-9E66-62CB88BA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EEE3FA-9A95-4C58-B916-15BBB7F24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BDFF05-7DB5-4B67-B97C-A47EFA4D2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71E85E-34D4-4027-B449-23CCF46E8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572C46-A9AB-47FC-AD55-A8722E5E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97E60A-1A1D-4C7C-ACC2-354560ADA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5275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664C58-A8EF-4751-806C-AFC38568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BBF170-43BC-450C-A269-F749E07B4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12965D1-AD51-496E-BBBD-C720F24E6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D9BDB3-F71A-4C16-858F-FCBEEB94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1A33B5-D412-4467-A799-7593639C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EC38D1-5793-4F42-AAD4-EEBE7B6A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64779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9ECF58-11C5-4F4B-81A5-662DCD33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C3F900-2D90-414A-A081-A270232E5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82ABBE-13B8-469E-BC35-A7272495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96C663-D986-4859-A878-6E93ABA2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748289-319A-4DBB-BA43-6FB9787E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5463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3721809-C75C-4408-BCD3-C459F254C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D9FEBC6-A291-409B-8903-6FB676ACF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F69F48-C7A9-4F38-A523-7A6184B92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B49BFB-0C77-4B2D-BB28-1ADA4650D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C275D8-DC76-4961-BC03-1827A337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8192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2CCB420-A04A-472B-A50A-6A9B6475A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41893D-F008-4D74-B1F2-A07C76648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F72052-AA41-4C6E-8B1B-4097C3D09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596F8-6326-4558-BF8D-F8E046B01524}" type="datetimeFigureOut">
              <a:rPr lang="de-CH" smtClean="0"/>
              <a:t>11.06.2026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6EB409-986E-4B0D-9C26-8E86E98B1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50240B-42BD-43EB-8771-1C82F3E45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DFA95-2271-45C3-9FB1-A970D4E4F71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75662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7" Type="http://schemas.openxmlformats.org/officeDocument/2006/relationships/image" Target="../media/image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tmp"/><Relationship Id="rId3" Type="http://schemas.openxmlformats.org/officeDocument/2006/relationships/image" Target="../media/image2.tmp"/><Relationship Id="rId7" Type="http://schemas.openxmlformats.org/officeDocument/2006/relationships/image" Target="../media/image7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tmp"/><Relationship Id="rId3" Type="http://schemas.openxmlformats.org/officeDocument/2006/relationships/image" Target="../media/image2.tmp"/><Relationship Id="rId7" Type="http://schemas.openxmlformats.org/officeDocument/2006/relationships/image" Target="../media/image7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10" Type="http://schemas.openxmlformats.org/officeDocument/2006/relationships/image" Target="../media/image10.png"/><Relationship Id="rId4" Type="http://schemas.openxmlformats.org/officeDocument/2006/relationships/image" Target="../media/image3.tmp"/><Relationship Id="rId9" Type="http://schemas.openxmlformats.org/officeDocument/2006/relationships/image" Target="../media/image9.tm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tmp"/><Relationship Id="rId7" Type="http://schemas.openxmlformats.org/officeDocument/2006/relationships/image" Target="../media/image11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mp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7" Type="http://schemas.openxmlformats.org/officeDocument/2006/relationships/image" Target="../media/image13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7" Type="http://schemas.openxmlformats.org/officeDocument/2006/relationships/image" Target="../media/image9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tmp"/><Relationship Id="rId5" Type="http://schemas.openxmlformats.org/officeDocument/2006/relationships/image" Target="../media/image7.tmp"/><Relationship Id="rId4" Type="http://schemas.openxmlformats.org/officeDocument/2006/relationships/image" Target="../media/image4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7" Type="http://schemas.openxmlformats.org/officeDocument/2006/relationships/image" Target="../media/image9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tmp"/><Relationship Id="rId5" Type="http://schemas.openxmlformats.org/officeDocument/2006/relationships/image" Target="../media/image7.tmp"/><Relationship Id="rId4" Type="http://schemas.openxmlformats.org/officeDocument/2006/relationships/image" Target="../media/image4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tmp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tmp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tmp"/><Relationship Id="rId4" Type="http://schemas.openxmlformats.org/officeDocument/2006/relationships/image" Target="../media/image26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tmp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tmp"/><Relationship Id="rId7" Type="http://schemas.openxmlformats.org/officeDocument/2006/relationships/image" Target="../media/image46.tmp"/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tmp"/><Relationship Id="rId5" Type="http://schemas.openxmlformats.org/officeDocument/2006/relationships/image" Target="../media/image44.tmp"/><Relationship Id="rId4" Type="http://schemas.openxmlformats.org/officeDocument/2006/relationships/image" Target="../media/image43.tm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mp"/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tmp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ock.adobe.com/de/search?k=emoji+scale&amp;asset_id=20378375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6372077-94F0-9418-502D-40BA6EF40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39" y="14153"/>
            <a:ext cx="11260121" cy="63826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7A4BF6C0-4D4E-5FC6-3241-3E5B8B09B286}"/>
              </a:ext>
            </a:extLst>
          </p:cNvPr>
          <p:cNvSpPr/>
          <p:nvPr/>
        </p:nvSpPr>
        <p:spPr>
          <a:xfrm>
            <a:off x="3068893" y="102215"/>
            <a:ext cx="74082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E98716C-1D82-0167-1ECB-053AF0EC682D}"/>
              </a:ext>
            </a:extLst>
          </p:cNvPr>
          <p:cNvGrpSpPr/>
          <p:nvPr/>
        </p:nvGrpSpPr>
        <p:grpSpPr>
          <a:xfrm>
            <a:off x="2987751" y="102215"/>
            <a:ext cx="2050964" cy="471665"/>
            <a:chOff x="3041650" y="414249"/>
            <a:chExt cx="2050964" cy="471665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6B69DA9-52CD-30D7-B8DA-BF88E9DD3C1A}"/>
                </a:ext>
              </a:extLst>
            </p:cNvPr>
            <p:cNvSpPr/>
            <p:nvPr/>
          </p:nvSpPr>
          <p:spPr>
            <a:xfrm>
              <a:off x="3041650" y="414249"/>
              <a:ext cx="2050964" cy="471665"/>
            </a:xfrm>
            <a:prstGeom prst="rect">
              <a:avLst/>
            </a:prstGeom>
            <a:solidFill>
              <a:srgbClr val="FDE7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dirty="0">
                  <a:solidFill>
                    <a:srgbClr val="5C540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Lernende Person</a:t>
              </a:r>
              <a:endParaRPr lang="de-CH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4" name="Gleichschenkliges Dreieck 13">
              <a:extLst>
                <a:ext uri="{FF2B5EF4-FFF2-40B4-BE49-F238E27FC236}">
                  <a16:creationId xmlns:a16="http://schemas.microsoft.com/office/drawing/2014/main" id="{D5C2B083-F9D4-200D-33FC-AC9663C94F45}"/>
                </a:ext>
              </a:extLst>
            </p:cNvPr>
            <p:cNvSpPr/>
            <p:nvPr/>
          </p:nvSpPr>
          <p:spPr>
            <a:xfrm rot="10800000">
              <a:off x="4664781" y="635796"/>
              <a:ext cx="133066" cy="56356"/>
            </a:xfrm>
            <a:prstGeom prst="triangle">
              <a:avLst/>
            </a:prstGeom>
            <a:solidFill>
              <a:srgbClr val="5C54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/>
            </a:p>
          </p:txBody>
        </p:sp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27CEE708-6AA2-E365-0E92-1AFC96892359}"/>
              </a:ext>
            </a:extLst>
          </p:cNvPr>
          <p:cNvSpPr/>
          <p:nvPr/>
        </p:nvSpPr>
        <p:spPr>
          <a:xfrm>
            <a:off x="5732780" y="105690"/>
            <a:ext cx="158895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[Lehrberuf]</a:t>
            </a:r>
            <a:endParaRPr lang="de-CH" sz="14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F1957BE-7DAB-1337-3CBC-CF996AE9E265}"/>
              </a:ext>
            </a:extLst>
          </p:cNvPr>
          <p:cNvSpPr txBox="1"/>
          <p:nvPr/>
        </p:nvSpPr>
        <p:spPr>
          <a:xfrm rot="16200000">
            <a:off x="-880025" y="1365617"/>
            <a:ext cx="25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C00000"/>
                </a:solidFill>
              </a:rPr>
              <a:t>Sicht Berufsbildner</a:t>
            </a:r>
            <a:endParaRPr lang="de-CH" sz="2400" dirty="0">
              <a:solidFill>
                <a:srgbClr val="C00000"/>
              </a:solidFill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7C1DAA7E-98C2-7D2E-7DF5-670EFC43F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6467" y="39134"/>
            <a:ext cx="1674761" cy="56925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C7410AE4-A3FC-D10D-091B-8FC54E4C4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979" y="652418"/>
            <a:ext cx="9028080" cy="5306626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26F8AEBA-217F-ACAE-58F1-A1A0F4EB8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3" b="-1"/>
          <a:stretch>
            <a:fillRect/>
          </a:stretch>
        </p:blipFill>
        <p:spPr>
          <a:xfrm>
            <a:off x="2951979" y="2877364"/>
            <a:ext cx="9028080" cy="4172464"/>
          </a:xfrm>
          <a:prstGeom prst="rect">
            <a:avLst/>
          </a:prstGeom>
        </p:spPr>
      </p:pic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2A097C7C-4786-EFC3-8D43-9E30E90663D9}"/>
              </a:ext>
            </a:extLst>
          </p:cNvPr>
          <p:cNvSpPr/>
          <p:nvPr/>
        </p:nvSpPr>
        <p:spPr>
          <a:xfrm>
            <a:off x="3117850" y="3015904"/>
            <a:ext cx="1613398" cy="361950"/>
          </a:xfrm>
          <a:prstGeom prst="roundRect">
            <a:avLst>
              <a:gd name="adj" fmla="val 80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E4CDDCA7-6DD1-2F35-DC1A-4D3EEE14D25D}"/>
              </a:ext>
            </a:extLst>
          </p:cNvPr>
          <p:cNvSpPr/>
          <p:nvPr/>
        </p:nvSpPr>
        <p:spPr>
          <a:xfrm>
            <a:off x="4897119" y="3015904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539EBC5-D355-6CBD-F705-F23B9EC06DA5}"/>
              </a:ext>
            </a:extLst>
          </p:cNvPr>
          <p:cNvSpPr txBox="1"/>
          <p:nvPr/>
        </p:nvSpPr>
        <p:spPr>
          <a:xfrm>
            <a:off x="3128240" y="3015904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SDM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AEBA449-111A-C855-3C2A-904164378094}"/>
              </a:ext>
            </a:extLst>
          </p:cNvPr>
          <p:cNvSpPr txBox="1"/>
          <p:nvPr/>
        </p:nvSpPr>
        <p:spPr>
          <a:xfrm>
            <a:off x="4897118" y="300852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2ED349B0-DC98-4CE5-83FB-A0C1C0B05DEE}"/>
              </a:ext>
            </a:extLst>
          </p:cNvPr>
          <p:cNvSpPr/>
          <p:nvPr/>
        </p:nvSpPr>
        <p:spPr>
          <a:xfrm>
            <a:off x="6699126" y="3059177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443FEBC-C86B-15DB-329A-2A3A73E2D931}"/>
              </a:ext>
            </a:extLst>
          </p:cNvPr>
          <p:cNvSpPr txBox="1"/>
          <p:nvPr/>
        </p:nvSpPr>
        <p:spPr>
          <a:xfrm>
            <a:off x="6664392" y="3008522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AAFE3AB9-EF50-98EC-45B9-F8F74F5B2C86}"/>
              </a:ext>
            </a:extLst>
          </p:cNvPr>
          <p:cNvSpPr/>
          <p:nvPr/>
        </p:nvSpPr>
        <p:spPr>
          <a:xfrm>
            <a:off x="8405406" y="2892128"/>
            <a:ext cx="3519893" cy="1069926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1530F52-F6E0-65A3-36D3-CDA800C93AE8}"/>
              </a:ext>
            </a:extLst>
          </p:cNvPr>
          <p:cNvSpPr/>
          <p:nvPr/>
        </p:nvSpPr>
        <p:spPr>
          <a:xfrm>
            <a:off x="719937" y="614699"/>
            <a:ext cx="2254427" cy="624295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6AE4E3FD-DACF-5790-F133-AF9AAF6F1B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59" y="693236"/>
            <a:ext cx="2096082" cy="3997180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D912317F-9725-0389-0EB3-374758B4D16F}"/>
              </a:ext>
            </a:extLst>
          </p:cNvPr>
          <p:cNvSpPr/>
          <p:nvPr/>
        </p:nvSpPr>
        <p:spPr>
          <a:xfrm>
            <a:off x="855896" y="1101379"/>
            <a:ext cx="2096082" cy="25717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10723DD-A58B-BD05-A8F6-700956FDD180}"/>
              </a:ext>
            </a:extLst>
          </p:cNvPr>
          <p:cNvSpPr/>
          <p:nvPr/>
        </p:nvSpPr>
        <p:spPr>
          <a:xfrm>
            <a:off x="791618" y="640132"/>
            <a:ext cx="129132" cy="4150597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3C921F1-A69F-16DA-B6D5-D794CE5455DA}"/>
              </a:ext>
            </a:extLst>
          </p:cNvPr>
          <p:cNvSpPr/>
          <p:nvPr/>
        </p:nvSpPr>
        <p:spPr>
          <a:xfrm>
            <a:off x="855897" y="197338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236E32E-1E10-16E6-21EB-990AFB9303F1}"/>
              </a:ext>
            </a:extLst>
          </p:cNvPr>
          <p:cNvSpPr/>
          <p:nvPr/>
        </p:nvSpPr>
        <p:spPr>
          <a:xfrm>
            <a:off x="855896" y="462928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9A0FF74A-3C1F-8984-AD5C-425CDE6D102E}"/>
              </a:ext>
            </a:extLst>
          </p:cNvPr>
          <p:cNvSpPr txBox="1"/>
          <p:nvPr/>
        </p:nvSpPr>
        <p:spPr>
          <a:xfrm>
            <a:off x="990000" y="4845313"/>
            <a:ext cx="13372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SDM</a:t>
            </a: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DE" sz="90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428EDCB-6D94-32A9-BF16-87C46CA596B6}"/>
              </a:ext>
            </a:extLst>
          </p:cNvPr>
          <p:cNvSpPr txBox="1"/>
          <p:nvPr/>
        </p:nvSpPr>
        <p:spPr>
          <a:xfrm>
            <a:off x="990086" y="5188955"/>
            <a:ext cx="12634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</a:t>
            </a: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9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E35399C-257E-EE29-A417-FC7F4D3DF6AA}"/>
              </a:ext>
            </a:extLst>
          </p:cNvPr>
          <p:cNvSpPr txBox="1"/>
          <p:nvPr/>
        </p:nvSpPr>
        <p:spPr>
          <a:xfrm>
            <a:off x="990000" y="5599681"/>
            <a:ext cx="13244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SWE</a:t>
            </a: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9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5281DBC4-8A6F-324E-CD91-2C937F4B43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58"/>
          <a:stretch>
            <a:fillRect/>
          </a:stretch>
        </p:blipFill>
        <p:spPr>
          <a:xfrm>
            <a:off x="2400877" y="4758073"/>
            <a:ext cx="452761" cy="369333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573BF9A8-D18E-CDCD-8744-22BA5AAF58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74"/>
          <a:stretch>
            <a:fillRect/>
          </a:stretch>
        </p:blipFill>
        <p:spPr>
          <a:xfrm>
            <a:off x="2391062" y="5576855"/>
            <a:ext cx="452761" cy="327063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68293265-E018-3CB7-81D3-35F75E2D01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62" b="32390"/>
          <a:stretch>
            <a:fillRect/>
          </a:stretch>
        </p:blipFill>
        <p:spPr>
          <a:xfrm>
            <a:off x="2400877" y="5075624"/>
            <a:ext cx="452761" cy="494204"/>
          </a:xfrm>
          <a:prstGeom prst="rect">
            <a:avLst/>
          </a:prstGeom>
        </p:spPr>
      </p:pic>
      <p:sp>
        <p:nvSpPr>
          <p:cNvPr id="49" name="Rechteck 48">
            <a:extLst>
              <a:ext uri="{FF2B5EF4-FFF2-40B4-BE49-F238E27FC236}">
                <a16:creationId xmlns:a16="http://schemas.microsoft.com/office/drawing/2014/main" id="{3510A2F4-3A7E-C6C4-78FE-B543288BDA4F}"/>
              </a:ext>
            </a:extLst>
          </p:cNvPr>
          <p:cNvSpPr/>
          <p:nvPr/>
        </p:nvSpPr>
        <p:spPr>
          <a:xfrm>
            <a:off x="887646" y="6033064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ADMINISTRATION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C254959-F7B7-732E-473F-DCE04A165E6D}"/>
              </a:ext>
            </a:extLst>
          </p:cNvPr>
          <p:cNvSpPr/>
          <p:nvPr/>
        </p:nvSpPr>
        <p:spPr>
          <a:xfrm>
            <a:off x="1018340" y="6230794"/>
            <a:ext cx="1891548" cy="2225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9B278C5-48F8-A1E1-C616-FE388C12B31A}"/>
              </a:ext>
            </a:extLst>
          </p:cNvPr>
          <p:cNvSpPr txBox="1"/>
          <p:nvPr/>
        </p:nvSpPr>
        <p:spPr>
          <a:xfrm>
            <a:off x="990000" y="6194507"/>
            <a:ext cx="1191352" cy="483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Lernende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</a:p>
        </p:txBody>
      </p:sp>
    </p:spTree>
    <p:extLst>
      <p:ext uri="{BB962C8B-B14F-4D97-AF65-F5344CB8AC3E}">
        <p14:creationId xmlns:p14="http://schemas.microsoft.com/office/powerpoint/2010/main" val="1636355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4281D-B70D-9DF7-4F03-81C88C6A8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DB51791-08B0-9FCD-4921-F35552720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89" y="1453"/>
            <a:ext cx="11260121" cy="63826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19D845F6-3770-4429-3655-652C7F365C82}"/>
              </a:ext>
            </a:extLst>
          </p:cNvPr>
          <p:cNvSpPr/>
          <p:nvPr/>
        </p:nvSpPr>
        <p:spPr>
          <a:xfrm>
            <a:off x="2884743" y="89515"/>
            <a:ext cx="74082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7BABBE2-A82A-4E97-71E5-F7281FDB7CB7}"/>
              </a:ext>
            </a:extLst>
          </p:cNvPr>
          <p:cNvSpPr/>
          <p:nvPr/>
        </p:nvSpPr>
        <p:spPr>
          <a:xfrm>
            <a:off x="5548630" y="92990"/>
            <a:ext cx="158895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5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[Lehrberuf]</a:t>
            </a:r>
            <a:endParaRPr lang="de-CH" sz="15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55052AF-765F-E897-9B9D-E2C63783C478}"/>
              </a:ext>
            </a:extLst>
          </p:cNvPr>
          <p:cNvSpPr txBox="1"/>
          <p:nvPr/>
        </p:nvSpPr>
        <p:spPr>
          <a:xfrm rot="16200000">
            <a:off x="-735877" y="985701"/>
            <a:ext cx="195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Sicht Berufsbildner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9BD79E5A-5083-3E59-80DC-24BD72A62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2317" y="26434"/>
            <a:ext cx="1674761" cy="56925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BB4D9F78-980C-5979-4144-76D6B4909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829" y="639718"/>
            <a:ext cx="9028080" cy="5306626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C7A96015-88DB-9D6A-9466-EB28E8B9A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3" b="-1"/>
          <a:stretch>
            <a:fillRect/>
          </a:stretch>
        </p:blipFill>
        <p:spPr>
          <a:xfrm>
            <a:off x="2767829" y="2864664"/>
            <a:ext cx="9028080" cy="4172464"/>
          </a:xfrm>
          <a:prstGeom prst="rect">
            <a:avLst/>
          </a:prstGeom>
        </p:spPr>
      </p:pic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B8109A1B-94EA-834C-5715-9763B04B1092}"/>
              </a:ext>
            </a:extLst>
          </p:cNvPr>
          <p:cNvSpPr/>
          <p:nvPr/>
        </p:nvSpPr>
        <p:spPr>
          <a:xfrm>
            <a:off x="2933700" y="3003204"/>
            <a:ext cx="1613398" cy="361950"/>
          </a:xfrm>
          <a:prstGeom prst="roundRect">
            <a:avLst>
              <a:gd name="adj" fmla="val 80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E565371-EBC1-631D-3D71-A069065F6CB0}"/>
              </a:ext>
            </a:extLst>
          </p:cNvPr>
          <p:cNvSpPr/>
          <p:nvPr/>
        </p:nvSpPr>
        <p:spPr>
          <a:xfrm>
            <a:off x="4712969" y="3003204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A2FD8D2-70F2-E93F-C8DA-D51EABDE5894}"/>
              </a:ext>
            </a:extLst>
          </p:cNvPr>
          <p:cNvSpPr txBox="1"/>
          <p:nvPr/>
        </p:nvSpPr>
        <p:spPr>
          <a:xfrm>
            <a:off x="2944090" y="3003204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SDM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AD41099-C374-5402-B24C-3979CE82598E}"/>
              </a:ext>
            </a:extLst>
          </p:cNvPr>
          <p:cNvSpPr txBox="1"/>
          <p:nvPr/>
        </p:nvSpPr>
        <p:spPr>
          <a:xfrm>
            <a:off x="4712968" y="299582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E6A03CC0-7104-8C86-13A7-A37FC9603118}"/>
              </a:ext>
            </a:extLst>
          </p:cNvPr>
          <p:cNvSpPr/>
          <p:nvPr/>
        </p:nvSpPr>
        <p:spPr>
          <a:xfrm>
            <a:off x="6514976" y="3046477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7A9291C-EC5D-FBBF-2723-6B6364B1CEDB}"/>
              </a:ext>
            </a:extLst>
          </p:cNvPr>
          <p:cNvSpPr txBox="1"/>
          <p:nvPr/>
        </p:nvSpPr>
        <p:spPr>
          <a:xfrm>
            <a:off x="6480242" y="2995822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D47E4910-420B-FAF9-CE96-D8F3CF9496F9}"/>
              </a:ext>
            </a:extLst>
          </p:cNvPr>
          <p:cNvSpPr/>
          <p:nvPr/>
        </p:nvSpPr>
        <p:spPr>
          <a:xfrm>
            <a:off x="8221256" y="2879428"/>
            <a:ext cx="3519893" cy="1069926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5E17A1FC-30FD-B29A-525C-116FE57AC300}"/>
              </a:ext>
            </a:extLst>
          </p:cNvPr>
          <p:cNvSpPr/>
          <p:nvPr/>
        </p:nvSpPr>
        <p:spPr>
          <a:xfrm>
            <a:off x="535787" y="601999"/>
            <a:ext cx="2254427" cy="624295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97D54426-7DCF-D77C-385D-96232D10B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09" y="680536"/>
            <a:ext cx="2096082" cy="3997180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353ECBB1-EBA7-0699-04D4-D704B2C05D03}"/>
              </a:ext>
            </a:extLst>
          </p:cNvPr>
          <p:cNvSpPr/>
          <p:nvPr/>
        </p:nvSpPr>
        <p:spPr>
          <a:xfrm>
            <a:off x="671746" y="1088679"/>
            <a:ext cx="2096082" cy="25717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6F73654-CE0B-7C10-203C-F672831E86AA}"/>
              </a:ext>
            </a:extLst>
          </p:cNvPr>
          <p:cNvSpPr/>
          <p:nvPr/>
        </p:nvSpPr>
        <p:spPr>
          <a:xfrm>
            <a:off x="607468" y="627432"/>
            <a:ext cx="129132" cy="4150597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C770432-D92B-F303-1FE7-912B9D31E695}"/>
              </a:ext>
            </a:extLst>
          </p:cNvPr>
          <p:cNvSpPr/>
          <p:nvPr/>
        </p:nvSpPr>
        <p:spPr>
          <a:xfrm>
            <a:off x="671747" y="196068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849C15C-2A69-9B85-6318-9B3DB8439322}"/>
              </a:ext>
            </a:extLst>
          </p:cNvPr>
          <p:cNvSpPr/>
          <p:nvPr/>
        </p:nvSpPr>
        <p:spPr>
          <a:xfrm>
            <a:off x="671746" y="461658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5EBEE1BF-7A93-5FCB-345F-49A451C3FEAE}"/>
              </a:ext>
            </a:extLst>
          </p:cNvPr>
          <p:cNvSpPr txBox="1"/>
          <p:nvPr/>
        </p:nvSpPr>
        <p:spPr>
          <a:xfrm>
            <a:off x="799500" y="4832613"/>
            <a:ext cx="13372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SDM</a:t>
            </a: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DE" sz="90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04B77ACE-FE15-4FFF-DF9C-A3857F2D4976}"/>
              </a:ext>
            </a:extLst>
          </p:cNvPr>
          <p:cNvSpPr txBox="1"/>
          <p:nvPr/>
        </p:nvSpPr>
        <p:spPr>
          <a:xfrm>
            <a:off x="799586" y="5176255"/>
            <a:ext cx="12634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</a:t>
            </a: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9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C206973-3B3F-6391-FD43-17A2DA0FBE9D}"/>
              </a:ext>
            </a:extLst>
          </p:cNvPr>
          <p:cNvSpPr txBox="1"/>
          <p:nvPr/>
        </p:nvSpPr>
        <p:spPr>
          <a:xfrm>
            <a:off x="799500" y="5586981"/>
            <a:ext cx="13244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SWE</a:t>
            </a: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9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4D456F8E-2184-9E7B-EDE4-A3F3111E8B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58"/>
          <a:stretch>
            <a:fillRect/>
          </a:stretch>
        </p:blipFill>
        <p:spPr>
          <a:xfrm>
            <a:off x="2216727" y="4745373"/>
            <a:ext cx="452761" cy="369333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7A3C7B12-936F-C375-A042-D3882F07AE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74"/>
          <a:stretch>
            <a:fillRect/>
          </a:stretch>
        </p:blipFill>
        <p:spPr>
          <a:xfrm>
            <a:off x="2206912" y="5564155"/>
            <a:ext cx="452761" cy="327063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D968FAB9-A3D0-C6DF-FC2F-FAF755B591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62" b="32390"/>
          <a:stretch>
            <a:fillRect/>
          </a:stretch>
        </p:blipFill>
        <p:spPr>
          <a:xfrm>
            <a:off x="2216727" y="5062924"/>
            <a:ext cx="452761" cy="494204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135149D2-16E1-C2DE-FB80-A55BF10AC9D6}"/>
              </a:ext>
            </a:extLst>
          </p:cNvPr>
          <p:cNvSpPr/>
          <p:nvPr/>
        </p:nvSpPr>
        <p:spPr>
          <a:xfrm>
            <a:off x="2843554" y="4734"/>
            <a:ext cx="1922754" cy="627363"/>
          </a:xfrm>
          <a:prstGeom prst="rect">
            <a:avLst/>
          </a:prstGeom>
          <a:solidFill>
            <a:srgbClr val="EED6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1A0CB9A-0AA0-71DB-0675-8357947FF538}"/>
              </a:ext>
            </a:extLst>
          </p:cNvPr>
          <p:cNvGrpSpPr/>
          <p:nvPr/>
        </p:nvGrpSpPr>
        <p:grpSpPr>
          <a:xfrm>
            <a:off x="2803601" y="89515"/>
            <a:ext cx="2050964" cy="471665"/>
            <a:chOff x="3041650" y="414249"/>
            <a:chExt cx="2050964" cy="471665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EFDDA4A-3492-1BD2-6089-099F5847B4D7}"/>
                </a:ext>
              </a:extLst>
            </p:cNvPr>
            <p:cNvSpPr/>
            <p:nvPr/>
          </p:nvSpPr>
          <p:spPr>
            <a:xfrm>
              <a:off x="3041650" y="414249"/>
              <a:ext cx="2050964" cy="47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500" dirty="0">
                  <a:solidFill>
                    <a:srgbClr val="5C540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Lernende Person</a:t>
              </a:r>
              <a:endParaRPr lang="de-CH" sz="15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4" name="Gleichschenkliges Dreieck 13">
              <a:extLst>
                <a:ext uri="{FF2B5EF4-FFF2-40B4-BE49-F238E27FC236}">
                  <a16:creationId xmlns:a16="http://schemas.microsoft.com/office/drawing/2014/main" id="{AA8C9304-3037-63E4-F7BD-4EBAB6F01A71}"/>
                </a:ext>
              </a:extLst>
            </p:cNvPr>
            <p:cNvSpPr/>
            <p:nvPr/>
          </p:nvSpPr>
          <p:spPr>
            <a:xfrm rot="10800000">
              <a:off x="4702881" y="635796"/>
              <a:ext cx="133066" cy="56356"/>
            </a:xfrm>
            <a:prstGeom prst="triangle">
              <a:avLst/>
            </a:prstGeom>
            <a:solidFill>
              <a:srgbClr val="5C54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/>
            </a:p>
          </p:txBody>
        </p:sp>
      </p:grpSp>
      <p:sp>
        <p:nvSpPr>
          <p:cNvPr id="6" name="Rechteck 5">
            <a:extLst>
              <a:ext uri="{FF2B5EF4-FFF2-40B4-BE49-F238E27FC236}">
                <a16:creationId xmlns:a16="http://schemas.microsoft.com/office/drawing/2014/main" id="{5035C5A5-B4E2-E832-A331-22B2AD53BCA2}"/>
              </a:ext>
            </a:extLst>
          </p:cNvPr>
          <p:cNvSpPr/>
          <p:nvPr/>
        </p:nvSpPr>
        <p:spPr>
          <a:xfrm>
            <a:off x="2849721" y="632335"/>
            <a:ext cx="2289111" cy="1841923"/>
          </a:xfrm>
          <a:prstGeom prst="rect">
            <a:avLst/>
          </a:prstGeom>
          <a:solidFill>
            <a:srgbClr val="FDE703"/>
          </a:solidFill>
          <a:ln>
            <a:solidFill>
              <a:srgbClr val="FDE7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tlCol="0" anchor="t" anchorCtr="0"/>
          <a:lstStyle/>
          <a:p>
            <a:pPr>
              <a:lnSpc>
                <a:spcPct val="150000"/>
              </a:lnSpc>
            </a:pPr>
            <a:r>
              <a:rPr lang="de-DE" sz="15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Heinz Platt </a:t>
            </a:r>
            <a:r>
              <a:rPr lang="de-DE" sz="15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PLT</a:t>
            </a:r>
          </a:p>
          <a:p>
            <a:pPr>
              <a:lnSpc>
                <a:spcPct val="150000"/>
              </a:lnSpc>
            </a:pPr>
            <a:r>
              <a:rPr lang="de-DE" sz="15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Max Muster </a:t>
            </a:r>
            <a:r>
              <a:rPr lang="de-DE" sz="15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AE</a:t>
            </a:r>
          </a:p>
          <a:p>
            <a:pPr>
              <a:lnSpc>
                <a:spcPct val="150000"/>
              </a:lnSpc>
            </a:pPr>
            <a:r>
              <a:rPr lang="de-DE" sz="15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Sara Beispiel </a:t>
            </a:r>
            <a:r>
              <a:rPr lang="de-DE" sz="15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AE</a:t>
            </a:r>
          </a:p>
          <a:p>
            <a:pPr>
              <a:lnSpc>
                <a:spcPct val="150000"/>
              </a:lnSpc>
            </a:pPr>
            <a:r>
              <a:rPr lang="de-DE" sz="15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Viktor </a:t>
            </a:r>
            <a:r>
              <a:rPr lang="de-DE" sz="15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ICT</a:t>
            </a:r>
            <a:r>
              <a:rPr lang="de-DE" sz="15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de-CH" sz="15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4BFCA93-6F29-9076-9EDE-B4430A65BC72}"/>
              </a:ext>
            </a:extLst>
          </p:cNvPr>
          <p:cNvSpPr/>
          <p:nvPr/>
        </p:nvSpPr>
        <p:spPr>
          <a:xfrm>
            <a:off x="697146" y="6020364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ADMINISTRATION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97ADC4D-A59B-3401-7266-BE34FEB3C4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21"/>
          <a:stretch>
            <a:fillRect/>
          </a:stretch>
        </p:blipFill>
        <p:spPr>
          <a:xfrm>
            <a:off x="10606300" y="16908"/>
            <a:ext cx="1560300" cy="2132093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C34FE6E-8308-2264-E657-82A9376C4AE0}"/>
              </a:ext>
            </a:extLst>
          </p:cNvPr>
          <p:cNvSpPr/>
          <p:nvPr/>
        </p:nvSpPr>
        <p:spPr>
          <a:xfrm>
            <a:off x="816774" y="6206743"/>
            <a:ext cx="1891548" cy="2225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1F9233E-C06A-3E14-7B86-C22AA52E3E80}"/>
              </a:ext>
            </a:extLst>
          </p:cNvPr>
          <p:cNvSpPr txBox="1"/>
          <p:nvPr/>
        </p:nvSpPr>
        <p:spPr>
          <a:xfrm>
            <a:off x="799500" y="6153488"/>
            <a:ext cx="1191352" cy="483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Lernende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87EAAB1-1ECB-C1A1-4743-B0ECE8C007F3}"/>
              </a:ext>
            </a:extLst>
          </p:cNvPr>
          <p:cNvSpPr/>
          <p:nvPr/>
        </p:nvSpPr>
        <p:spPr>
          <a:xfrm>
            <a:off x="2915770" y="2095629"/>
            <a:ext cx="2095500" cy="324841"/>
          </a:xfrm>
          <a:prstGeom prst="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2">
                    <a:lumMod val="50000"/>
                  </a:schemeClr>
                </a:solidFill>
              </a:rPr>
              <a:t>+ Lernende erfassen</a:t>
            </a:r>
            <a:endParaRPr lang="de-CH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564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396B9-126F-55B3-E011-890B6A46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0A3CD94E-8C88-4EB4-EC85-F0D6D2FFC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39" y="103053"/>
            <a:ext cx="11260121" cy="63826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D3135109-845F-EDAF-7F1A-5778BF8072AF}"/>
              </a:ext>
            </a:extLst>
          </p:cNvPr>
          <p:cNvSpPr/>
          <p:nvPr/>
        </p:nvSpPr>
        <p:spPr>
          <a:xfrm>
            <a:off x="2814893" y="191115"/>
            <a:ext cx="74082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89D6908-8CA5-2B53-1DF8-F51E939272EB}"/>
              </a:ext>
            </a:extLst>
          </p:cNvPr>
          <p:cNvGrpSpPr/>
          <p:nvPr/>
        </p:nvGrpSpPr>
        <p:grpSpPr>
          <a:xfrm>
            <a:off x="2733751" y="191115"/>
            <a:ext cx="2050964" cy="471665"/>
            <a:chOff x="3041650" y="414249"/>
            <a:chExt cx="2050964" cy="471665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D516C2B5-01C6-64A8-629A-DBB90FAFEE29}"/>
                </a:ext>
              </a:extLst>
            </p:cNvPr>
            <p:cNvSpPr/>
            <p:nvPr/>
          </p:nvSpPr>
          <p:spPr>
            <a:xfrm>
              <a:off x="3041650" y="414249"/>
              <a:ext cx="2050964" cy="471665"/>
            </a:xfrm>
            <a:prstGeom prst="rect">
              <a:avLst/>
            </a:prstGeom>
            <a:solidFill>
              <a:srgbClr val="FDE7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dirty="0">
                  <a:solidFill>
                    <a:srgbClr val="5C540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Heinz Platt</a:t>
              </a:r>
              <a:endParaRPr lang="de-CH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4" name="Gleichschenkliges Dreieck 13">
              <a:extLst>
                <a:ext uri="{FF2B5EF4-FFF2-40B4-BE49-F238E27FC236}">
                  <a16:creationId xmlns:a16="http://schemas.microsoft.com/office/drawing/2014/main" id="{486B0235-7982-F02D-C549-4A2D4D8547E6}"/>
                </a:ext>
              </a:extLst>
            </p:cNvPr>
            <p:cNvSpPr/>
            <p:nvPr/>
          </p:nvSpPr>
          <p:spPr>
            <a:xfrm rot="10800000">
              <a:off x="4664781" y="635796"/>
              <a:ext cx="133066" cy="56356"/>
            </a:xfrm>
            <a:prstGeom prst="triangle">
              <a:avLst/>
            </a:prstGeom>
            <a:solidFill>
              <a:srgbClr val="5C54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/>
            </a:p>
          </p:txBody>
        </p:sp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90D6556C-F450-5FB4-7881-142FD042D746}"/>
              </a:ext>
            </a:extLst>
          </p:cNvPr>
          <p:cNvSpPr/>
          <p:nvPr/>
        </p:nvSpPr>
        <p:spPr>
          <a:xfrm>
            <a:off x="5478779" y="194590"/>
            <a:ext cx="2050963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  <a:endParaRPr lang="de-CH" sz="14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E046E93-F9BD-35BD-2A71-9C0049099237}"/>
              </a:ext>
            </a:extLst>
          </p:cNvPr>
          <p:cNvSpPr txBox="1"/>
          <p:nvPr/>
        </p:nvSpPr>
        <p:spPr>
          <a:xfrm rot="16200000">
            <a:off x="-727060" y="1010272"/>
            <a:ext cx="195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C00000"/>
                </a:solidFill>
              </a:rPr>
              <a:t>Sicht Berufsbildner</a:t>
            </a:r>
            <a:endParaRPr lang="de-CH" dirty="0">
              <a:solidFill>
                <a:srgbClr val="C00000"/>
              </a:solidFill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CAE9A69-8078-FA55-4031-7FD0C16B1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467" y="128034"/>
            <a:ext cx="1674761" cy="56925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1D18BDFB-CD5A-E53A-8447-33D8146AA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979" y="741318"/>
            <a:ext cx="9028080" cy="5306626"/>
          </a:xfrm>
          <a:prstGeom prst="rect">
            <a:avLst/>
          </a:prstGeom>
        </p:spPr>
      </p:pic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B4F4902C-ED7C-0BDF-B062-6FEAF0A152AD}"/>
              </a:ext>
            </a:extLst>
          </p:cNvPr>
          <p:cNvSpPr/>
          <p:nvPr/>
        </p:nvSpPr>
        <p:spPr>
          <a:xfrm>
            <a:off x="2863850" y="3104804"/>
            <a:ext cx="1613398" cy="361950"/>
          </a:xfrm>
          <a:prstGeom prst="roundRect">
            <a:avLst>
              <a:gd name="adj" fmla="val 80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5437B0DE-858E-D010-6E84-73F714B0704B}"/>
              </a:ext>
            </a:extLst>
          </p:cNvPr>
          <p:cNvSpPr/>
          <p:nvPr/>
        </p:nvSpPr>
        <p:spPr>
          <a:xfrm>
            <a:off x="4643119" y="3104804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D365445D-DE5E-8235-8A7D-001F43BC60F8}"/>
              </a:ext>
            </a:extLst>
          </p:cNvPr>
          <p:cNvSpPr txBox="1"/>
          <p:nvPr/>
        </p:nvSpPr>
        <p:spPr>
          <a:xfrm>
            <a:off x="2874240" y="3104804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SDM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17BA2BDE-3D78-2A20-EA9D-21630152EF23}"/>
              </a:ext>
            </a:extLst>
          </p:cNvPr>
          <p:cNvSpPr txBox="1"/>
          <p:nvPr/>
        </p:nvSpPr>
        <p:spPr>
          <a:xfrm>
            <a:off x="4643118" y="309742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703C7D6A-6848-BA8C-1452-9731E2E5CEF5}"/>
              </a:ext>
            </a:extLst>
          </p:cNvPr>
          <p:cNvSpPr/>
          <p:nvPr/>
        </p:nvSpPr>
        <p:spPr>
          <a:xfrm>
            <a:off x="6445126" y="3148077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EA21350-09EE-694C-1649-61D5D4FDA22C}"/>
              </a:ext>
            </a:extLst>
          </p:cNvPr>
          <p:cNvSpPr txBox="1"/>
          <p:nvPr/>
        </p:nvSpPr>
        <p:spPr>
          <a:xfrm>
            <a:off x="6410392" y="3097422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960FF0B7-ADAA-538F-424B-4E156D19A4AA}"/>
              </a:ext>
            </a:extLst>
          </p:cNvPr>
          <p:cNvSpPr/>
          <p:nvPr/>
        </p:nvSpPr>
        <p:spPr>
          <a:xfrm>
            <a:off x="8151406" y="2981028"/>
            <a:ext cx="3519893" cy="1069926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17F655D9-EDAA-32D2-14B1-C7F13EDF4F86}"/>
              </a:ext>
            </a:extLst>
          </p:cNvPr>
          <p:cNvSpPr/>
          <p:nvPr/>
        </p:nvSpPr>
        <p:spPr>
          <a:xfrm>
            <a:off x="465937" y="703599"/>
            <a:ext cx="2254427" cy="6052801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6854A295-75E0-AC7C-DB3B-048ABCAF49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59" y="782136"/>
            <a:ext cx="2096082" cy="3997180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94EDCE0D-4915-6C00-64E1-6D456B846133}"/>
              </a:ext>
            </a:extLst>
          </p:cNvPr>
          <p:cNvSpPr/>
          <p:nvPr/>
        </p:nvSpPr>
        <p:spPr>
          <a:xfrm>
            <a:off x="601896" y="1190279"/>
            <a:ext cx="2096082" cy="25717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5A5FE65-6571-233B-EB6B-3A8D3AB5EC4C}"/>
              </a:ext>
            </a:extLst>
          </p:cNvPr>
          <p:cNvSpPr/>
          <p:nvPr/>
        </p:nvSpPr>
        <p:spPr>
          <a:xfrm>
            <a:off x="537618" y="729032"/>
            <a:ext cx="129132" cy="4150597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E103A81-6FBB-D94B-C8BD-AE5D78ECD7A8}"/>
              </a:ext>
            </a:extLst>
          </p:cNvPr>
          <p:cNvSpPr/>
          <p:nvPr/>
        </p:nvSpPr>
        <p:spPr>
          <a:xfrm>
            <a:off x="601897" y="206228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71EBA376-485E-8652-6E3C-E6544BB71BDA}"/>
              </a:ext>
            </a:extLst>
          </p:cNvPr>
          <p:cNvSpPr/>
          <p:nvPr/>
        </p:nvSpPr>
        <p:spPr>
          <a:xfrm>
            <a:off x="601896" y="471818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E15E8AE3-1E2C-97B8-0A9D-36844BBF7231}"/>
              </a:ext>
            </a:extLst>
          </p:cNvPr>
          <p:cNvSpPr txBox="1"/>
          <p:nvPr/>
        </p:nvSpPr>
        <p:spPr>
          <a:xfrm>
            <a:off x="736000" y="4934213"/>
            <a:ext cx="13372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SDM</a:t>
            </a: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DE" sz="90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4950103-3087-58E2-9DD9-709D88101572}"/>
              </a:ext>
            </a:extLst>
          </p:cNvPr>
          <p:cNvSpPr txBox="1"/>
          <p:nvPr/>
        </p:nvSpPr>
        <p:spPr>
          <a:xfrm>
            <a:off x="736086" y="5277855"/>
            <a:ext cx="12634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</a:t>
            </a: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9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36011C3C-B132-61A8-16D9-4D54D80C3972}"/>
              </a:ext>
            </a:extLst>
          </p:cNvPr>
          <p:cNvSpPr txBox="1"/>
          <p:nvPr/>
        </p:nvSpPr>
        <p:spPr>
          <a:xfrm>
            <a:off x="736000" y="5688581"/>
            <a:ext cx="13244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SWE</a:t>
            </a: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9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676FDB17-6FFB-4B16-4F98-D10FF54FE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58"/>
          <a:stretch>
            <a:fillRect/>
          </a:stretch>
        </p:blipFill>
        <p:spPr>
          <a:xfrm>
            <a:off x="2146877" y="4846973"/>
            <a:ext cx="452761" cy="369333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35CB9B3-702B-C907-5E14-FB08CE2D33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74"/>
          <a:stretch>
            <a:fillRect/>
          </a:stretch>
        </p:blipFill>
        <p:spPr>
          <a:xfrm>
            <a:off x="2137062" y="5665755"/>
            <a:ext cx="452761" cy="327063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90B175C8-752F-5D0E-C362-EA2C6C6704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62" b="32390"/>
          <a:stretch>
            <a:fillRect/>
          </a:stretch>
        </p:blipFill>
        <p:spPr>
          <a:xfrm>
            <a:off x="2146877" y="5164524"/>
            <a:ext cx="452761" cy="494204"/>
          </a:xfrm>
          <a:prstGeom prst="rect">
            <a:avLst/>
          </a:prstGeom>
        </p:spPr>
      </p:pic>
      <p:sp>
        <p:nvSpPr>
          <p:cNvPr id="49" name="Rechteck 48">
            <a:extLst>
              <a:ext uri="{FF2B5EF4-FFF2-40B4-BE49-F238E27FC236}">
                <a16:creationId xmlns:a16="http://schemas.microsoft.com/office/drawing/2014/main" id="{6218450D-EEB4-4539-6C34-129618E087AA}"/>
              </a:ext>
            </a:extLst>
          </p:cNvPr>
          <p:cNvSpPr/>
          <p:nvPr/>
        </p:nvSpPr>
        <p:spPr>
          <a:xfrm>
            <a:off x="633646" y="6121964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ADMINISTRATION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A5C401B-A36A-083A-B936-A39255C1B2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58" y="804398"/>
            <a:ext cx="8946301" cy="595200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2985F44-4D2D-4F01-6DD1-968F7EADDF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" r="-1"/>
          <a:stretch>
            <a:fillRect/>
          </a:stretch>
        </p:blipFill>
        <p:spPr>
          <a:xfrm>
            <a:off x="636270" y="1454480"/>
            <a:ext cx="1997998" cy="1297521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F533082E-19A7-8AF9-3F0C-EFDE8A108EF7}"/>
              </a:ext>
            </a:extLst>
          </p:cNvPr>
          <p:cNvSpPr/>
          <p:nvPr/>
        </p:nvSpPr>
        <p:spPr>
          <a:xfrm>
            <a:off x="598722" y="204958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E4A350A-79E4-C18D-F3DE-F07DD5761105}"/>
              </a:ext>
            </a:extLst>
          </p:cNvPr>
          <p:cNvSpPr/>
          <p:nvPr/>
        </p:nvSpPr>
        <p:spPr>
          <a:xfrm>
            <a:off x="729416" y="6301973"/>
            <a:ext cx="1891548" cy="2225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8F0DF68-C7E8-ACB9-4107-73B4AA6DEBC9}"/>
              </a:ext>
            </a:extLst>
          </p:cNvPr>
          <p:cNvSpPr txBox="1"/>
          <p:nvPr/>
        </p:nvSpPr>
        <p:spPr>
          <a:xfrm>
            <a:off x="727479" y="6255369"/>
            <a:ext cx="1191352" cy="483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Lernende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</a:p>
        </p:txBody>
      </p:sp>
    </p:spTree>
    <p:extLst>
      <p:ext uri="{BB962C8B-B14F-4D97-AF65-F5344CB8AC3E}">
        <p14:creationId xmlns:p14="http://schemas.microsoft.com/office/powerpoint/2010/main" val="3820818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FC02D-05F4-ED28-BAD1-060EECE42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3F56AF1-CD24-1CF1-FC1D-538267786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39" y="90353"/>
            <a:ext cx="11260121" cy="63826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7B210F1D-8F52-140A-B4E8-838B617FC902}"/>
              </a:ext>
            </a:extLst>
          </p:cNvPr>
          <p:cNvSpPr/>
          <p:nvPr/>
        </p:nvSpPr>
        <p:spPr>
          <a:xfrm>
            <a:off x="3106993" y="178415"/>
            <a:ext cx="74082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6A7C59B-1A6C-B28D-40FC-BD7DA128D091}"/>
              </a:ext>
            </a:extLst>
          </p:cNvPr>
          <p:cNvGrpSpPr/>
          <p:nvPr/>
        </p:nvGrpSpPr>
        <p:grpSpPr>
          <a:xfrm>
            <a:off x="3025851" y="178415"/>
            <a:ext cx="2050964" cy="471665"/>
            <a:chOff x="3041650" y="414249"/>
            <a:chExt cx="2050964" cy="471665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EB8CC519-9D27-807E-2F6B-A7AF91E2F858}"/>
                </a:ext>
              </a:extLst>
            </p:cNvPr>
            <p:cNvSpPr/>
            <p:nvPr/>
          </p:nvSpPr>
          <p:spPr>
            <a:xfrm>
              <a:off x="3041650" y="414249"/>
              <a:ext cx="2050964" cy="471665"/>
            </a:xfrm>
            <a:prstGeom prst="rect">
              <a:avLst/>
            </a:prstGeom>
            <a:solidFill>
              <a:srgbClr val="FDE7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dirty="0">
                  <a:solidFill>
                    <a:srgbClr val="5C540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Heinz Platt</a:t>
              </a:r>
              <a:endParaRPr lang="de-CH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4" name="Gleichschenkliges Dreieck 13">
              <a:extLst>
                <a:ext uri="{FF2B5EF4-FFF2-40B4-BE49-F238E27FC236}">
                  <a16:creationId xmlns:a16="http://schemas.microsoft.com/office/drawing/2014/main" id="{9B858789-20F6-9F0E-60B4-C1754731F868}"/>
                </a:ext>
              </a:extLst>
            </p:cNvPr>
            <p:cNvSpPr/>
            <p:nvPr/>
          </p:nvSpPr>
          <p:spPr>
            <a:xfrm rot="10800000">
              <a:off x="4664781" y="635796"/>
              <a:ext cx="133066" cy="56356"/>
            </a:xfrm>
            <a:prstGeom prst="triangle">
              <a:avLst/>
            </a:prstGeom>
            <a:solidFill>
              <a:srgbClr val="5C54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/>
            </a:p>
          </p:txBody>
        </p:sp>
      </p:grpSp>
      <p:sp>
        <p:nvSpPr>
          <p:cNvPr id="16" name="Rechteck 15">
            <a:extLst>
              <a:ext uri="{FF2B5EF4-FFF2-40B4-BE49-F238E27FC236}">
                <a16:creationId xmlns:a16="http://schemas.microsoft.com/office/drawing/2014/main" id="{0C596004-4147-C959-9ABF-AF14ECAB14C9}"/>
              </a:ext>
            </a:extLst>
          </p:cNvPr>
          <p:cNvSpPr/>
          <p:nvPr/>
        </p:nvSpPr>
        <p:spPr>
          <a:xfrm>
            <a:off x="5770879" y="181890"/>
            <a:ext cx="2050963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  <a:endParaRPr lang="de-CH" sz="14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71061A6-09F1-01D7-D544-440D988D774F}"/>
              </a:ext>
            </a:extLst>
          </p:cNvPr>
          <p:cNvSpPr txBox="1"/>
          <p:nvPr/>
        </p:nvSpPr>
        <p:spPr>
          <a:xfrm rot="16200000">
            <a:off x="-867792" y="1099410"/>
            <a:ext cx="25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C00000"/>
                </a:solidFill>
              </a:rPr>
              <a:t>Sicht Berufsbildner</a:t>
            </a:r>
            <a:endParaRPr lang="de-CH" sz="2400" dirty="0">
              <a:solidFill>
                <a:srgbClr val="C00000"/>
              </a:solidFill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D5A47E83-92AF-3DCE-BC92-1F05626A99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567" y="115334"/>
            <a:ext cx="1674761" cy="56925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B643C6D8-BD70-CF10-7BF7-5A053705A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079" y="728618"/>
            <a:ext cx="9028080" cy="5306626"/>
          </a:xfrm>
          <a:prstGeom prst="rect">
            <a:avLst/>
          </a:prstGeom>
        </p:spPr>
      </p:pic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24085797-7BCE-EBBF-F3B1-EB1A7D2DFDC7}"/>
              </a:ext>
            </a:extLst>
          </p:cNvPr>
          <p:cNvSpPr/>
          <p:nvPr/>
        </p:nvSpPr>
        <p:spPr>
          <a:xfrm>
            <a:off x="3155950" y="3092104"/>
            <a:ext cx="1613398" cy="361950"/>
          </a:xfrm>
          <a:prstGeom prst="roundRect">
            <a:avLst>
              <a:gd name="adj" fmla="val 80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1A33D57-A961-C927-4D30-BBEF3B6DBC96}"/>
              </a:ext>
            </a:extLst>
          </p:cNvPr>
          <p:cNvSpPr/>
          <p:nvPr/>
        </p:nvSpPr>
        <p:spPr>
          <a:xfrm>
            <a:off x="4935219" y="3092104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84D255A5-B9C7-968D-4823-C35F9F841D2B}"/>
              </a:ext>
            </a:extLst>
          </p:cNvPr>
          <p:cNvSpPr txBox="1"/>
          <p:nvPr/>
        </p:nvSpPr>
        <p:spPr>
          <a:xfrm>
            <a:off x="3166340" y="3092104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SDM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442B1D5-59A1-3E7C-AE48-770BFD59038A}"/>
              </a:ext>
            </a:extLst>
          </p:cNvPr>
          <p:cNvSpPr txBox="1"/>
          <p:nvPr/>
        </p:nvSpPr>
        <p:spPr>
          <a:xfrm>
            <a:off x="4935218" y="308472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99BC89D9-3AFA-53E3-02D0-7EFC8B67A458}"/>
              </a:ext>
            </a:extLst>
          </p:cNvPr>
          <p:cNvSpPr/>
          <p:nvPr/>
        </p:nvSpPr>
        <p:spPr>
          <a:xfrm>
            <a:off x="6737226" y="3135377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37A87FC-202E-6FAA-626B-FC7D4303F4E5}"/>
              </a:ext>
            </a:extLst>
          </p:cNvPr>
          <p:cNvSpPr txBox="1"/>
          <p:nvPr/>
        </p:nvSpPr>
        <p:spPr>
          <a:xfrm>
            <a:off x="6702492" y="3084722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01B9DAE9-CE23-6E83-6687-1E966CA8FDE2}"/>
              </a:ext>
            </a:extLst>
          </p:cNvPr>
          <p:cNvSpPr/>
          <p:nvPr/>
        </p:nvSpPr>
        <p:spPr>
          <a:xfrm>
            <a:off x="8443506" y="2968328"/>
            <a:ext cx="3519893" cy="1069926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46D014-570B-34FC-54BE-910E5A78A26D}"/>
              </a:ext>
            </a:extLst>
          </p:cNvPr>
          <p:cNvSpPr/>
          <p:nvPr/>
        </p:nvSpPr>
        <p:spPr>
          <a:xfrm>
            <a:off x="758037" y="690899"/>
            <a:ext cx="2254427" cy="6052801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314F675F-A9C8-75B6-3265-AD66933F5F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59" y="769436"/>
            <a:ext cx="2096082" cy="3997180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4E0E37F7-1087-BBC2-62F4-9D3C48C5BCEA}"/>
              </a:ext>
            </a:extLst>
          </p:cNvPr>
          <p:cNvSpPr/>
          <p:nvPr/>
        </p:nvSpPr>
        <p:spPr>
          <a:xfrm>
            <a:off x="893996" y="1177579"/>
            <a:ext cx="2096082" cy="25717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60797D5-1348-8618-7C64-331987AEEF0B}"/>
              </a:ext>
            </a:extLst>
          </p:cNvPr>
          <p:cNvSpPr/>
          <p:nvPr/>
        </p:nvSpPr>
        <p:spPr>
          <a:xfrm>
            <a:off x="829718" y="716332"/>
            <a:ext cx="129132" cy="4150597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D60B64A-D138-79D5-86E4-A06D7C229C11}"/>
              </a:ext>
            </a:extLst>
          </p:cNvPr>
          <p:cNvSpPr/>
          <p:nvPr/>
        </p:nvSpPr>
        <p:spPr>
          <a:xfrm>
            <a:off x="893997" y="204958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55F8780-6C9C-3F42-FC09-906FE552273E}"/>
              </a:ext>
            </a:extLst>
          </p:cNvPr>
          <p:cNvSpPr/>
          <p:nvPr/>
        </p:nvSpPr>
        <p:spPr>
          <a:xfrm>
            <a:off x="893996" y="470548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FC783B1-814F-3CCA-5213-85E0CDC3A4E1}"/>
              </a:ext>
            </a:extLst>
          </p:cNvPr>
          <p:cNvSpPr txBox="1"/>
          <p:nvPr/>
        </p:nvSpPr>
        <p:spPr>
          <a:xfrm>
            <a:off x="1028100" y="4921513"/>
            <a:ext cx="13372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SDM</a:t>
            </a: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DE" sz="90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381EF8CF-3BBE-A006-F53D-4B26225DBCEE}"/>
              </a:ext>
            </a:extLst>
          </p:cNvPr>
          <p:cNvSpPr txBox="1"/>
          <p:nvPr/>
        </p:nvSpPr>
        <p:spPr>
          <a:xfrm>
            <a:off x="1028100" y="5675881"/>
            <a:ext cx="13244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SWE</a:t>
            </a: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9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01B9058D-B24F-00DF-A892-0BFE984628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58"/>
          <a:stretch>
            <a:fillRect/>
          </a:stretch>
        </p:blipFill>
        <p:spPr>
          <a:xfrm>
            <a:off x="2438977" y="4834273"/>
            <a:ext cx="452761" cy="369333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0FE9495B-2D45-FEDB-58B4-0BFFE1CF5A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74"/>
          <a:stretch>
            <a:fillRect/>
          </a:stretch>
        </p:blipFill>
        <p:spPr>
          <a:xfrm>
            <a:off x="2429162" y="5653055"/>
            <a:ext cx="452761" cy="327063"/>
          </a:xfrm>
          <a:prstGeom prst="rect">
            <a:avLst/>
          </a:prstGeom>
        </p:spPr>
      </p:pic>
      <p:sp>
        <p:nvSpPr>
          <p:cNvPr id="49" name="Rechteck 48">
            <a:extLst>
              <a:ext uri="{FF2B5EF4-FFF2-40B4-BE49-F238E27FC236}">
                <a16:creationId xmlns:a16="http://schemas.microsoft.com/office/drawing/2014/main" id="{D26567E5-0C99-D982-788C-51159593C6D6}"/>
              </a:ext>
            </a:extLst>
          </p:cNvPr>
          <p:cNvSpPr/>
          <p:nvPr/>
        </p:nvSpPr>
        <p:spPr>
          <a:xfrm>
            <a:off x="925746" y="6109264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ADMINISTRATION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A9AA1C0-84CD-E1BD-25AA-F1299C5978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430" y="791698"/>
            <a:ext cx="8946301" cy="595200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3E7DC1BC-E21F-8C76-4FB2-7163215CB12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" r="-1" b="57867"/>
          <a:stretch>
            <a:fillRect/>
          </a:stretch>
        </p:blipFill>
        <p:spPr>
          <a:xfrm>
            <a:off x="928370" y="1441781"/>
            <a:ext cx="1997998" cy="546676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D5970CAF-E668-4757-4243-2D9C01534C3A}"/>
              </a:ext>
            </a:extLst>
          </p:cNvPr>
          <p:cNvSpPr/>
          <p:nvPr/>
        </p:nvSpPr>
        <p:spPr>
          <a:xfrm>
            <a:off x="1007526" y="5265155"/>
            <a:ext cx="1884212" cy="4107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4316B19-48E7-8584-3C9F-1641CA5FFE10}"/>
              </a:ext>
            </a:extLst>
          </p:cNvPr>
          <p:cNvSpPr txBox="1"/>
          <p:nvPr/>
        </p:nvSpPr>
        <p:spPr>
          <a:xfrm>
            <a:off x="1028186" y="5265155"/>
            <a:ext cx="12634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</a:t>
            </a:r>
          </a:p>
          <a:p>
            <a:endParaRPr lang="de-DE" sz="3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9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A2C46955-2D01-CCB3-ECCE-009C3203C98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DE70E"/>
              </a:clrFrom>
              <a:clrTo>
                <a:srgbClr val="FDE70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62" b="32390"/>
          <a:stretch>
            <a:fillRect/>
          </a:stretch>
        </p:blipFill>
        <p:spPr>
          <a:xfrm>
            <a:off x="2438977" y="5151824"/>
            <a:ext cx="452761" cy="49420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98F32EA-D34C-7065-03EC-FAAB152655AC}"/>
              </a:ext>
            </a:extLst>
          </p:cNvPr>
          <p:cNvSpPr txBox="1"/>
          <p:nvPr/>
        </p:nvSpPr>
        <p:spPr>
          <a:xfrm>
            <a:off x="3188340" y="1228643"/>
            <a:ext cx="2215671" cy="22313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5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 Schuladministration</a:t>
            </a:r>
            <a:endParaRPr lang="de-CH" sz="85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4DC5738-E627-59ED-D625-9B03FE4052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04" b="15820"/>
          <a:stretch>
            <a:fillRect/>
          </a:stretch>
        </p:blipFill>
        <p:spPr>
          <a:xfrm>
            <a:off x="3022352" y="3704069"/>
            <a:ext cx="8946301" cy="1069926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2A7C60A4-A218-055C-FA06-85715508FEE4}"/>
              </a:ext>
            </a:extLst>
          </p:cNvPr>
          <p:cNvSpPr/>
          <p:nvPr/>
        </p:nvSpPr>
        <p:spPr>
          <a:xfrm>
            <a:off x="3106993" y="4773995"/>
            <a:ext cx="8856406" cy="196970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E7934B6-DE72-B25B-0AD5-223EC4F0072D}"/>
              </a:ext>
            </a:extLst>
          </p:cNvPr>
          <p:cNvSpPr/>
          <p:nvPr/>
        </p:nvSpPr>
        <p:spPr>
          <a:xfrm>
            <a:off x="3248025" y="1031875"/>
            <a:ext cx="1243834" cy="196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3D738D74-F25A-A4C9-CD3D-AD8DD04B6CEC}"/>
              </a:ext>
            </a:extLst>
          </p:cNvPr>
          <p:cNvSpPr/>
          <p:nvPr/>
        </p:nvSpPr>
        <p:spPr>
          <a:xfrm>
            <a:off x="3267784" y="1100541"/>
            <a:ext cx="337134" cy="119063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b="1" dirty="0"/>
              <a:t>SA</a:t>
            </a:r>
            <a:endParaRPr lang="de-CH" sz="700" b="1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234BFD8-01B2-544A-C99E-D0B1CD2BF3FD}"/>
              </a:ext>
            </a:extLst>
          </p:cNvPr>
          <p:cNvSpPr/>
          <p:nvPr/>
        </p:nvSpPr>
        <p:spPr>
          <a:xfrm>
            <a:off x="3120620" y="2409539"/>
            <a:ext cx="7755660" cy="283304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A </a:t>
            </a:r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Begleiten von ICT-Projekten  </a:t>
            </a:r>
            <a:r>
              <a:rPr lang="de-DE" sz="1050" b="1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427F99AC-298C-9323-5909-F96549E22DEC}"/>
              </a:ext>
            </a:extLst>
          </p:cNvPr>
          <p:cNvSpPr/>
          <p:nvPr/>
        </p:nvSpPr>
        <p:spPr>
          <a:xfrm>
            <a:off x="11272521" y="2409539"/>
            <a:ext cx="388620" cy="283304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2/2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BA9EB6C-0A98-38C1-F687-E1801FD92F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93"/>
          <a:stretch>
            <a:fillRect/>
          </a:stretch>
        </p:blipFill>
        <p:spPr>
          <a:xfrm>
            <a:off x="3046329" y="4741369"/>
            <a:ext cx="8804125" cy="1946963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D99EE13F-0F34-1347-3250-20D01423FD4E}"/>
              </a:ext>
            </a:extLst>
          </p:cNvPr>
          <p:cNvSpPr txBox="1"/>
          <p:nvPr/>
        </p:nvSpPr>
        <p:spPr>
          <a:xfrm>
            <a:off x="3163441" y="4847914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B   Unterstützen und Beraten im ICT-Umfeld</a:t>
            </a:r>
            <a:endParaRPr lang="de-CH" sz="1000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E69EDD5-A76E-23B6-9B02-CB9696F3A4A7}"/>
              </a:ext>
            </a:extLst>
          </p:cNvPr>
          <p:cNvSpPr txBox="1"/>
          <p:nvPr/>
        </p:nvSpPr>
        <p:spPr>
          <a:xfrm>
            <a:off x="3163441" y="5217953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C   Aufbauen und Pflegen von digitalen Daten</a:t>
            </a:r>
            <a:endParaRPr lang="de-CH" sz="10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DFEE5E5D-FD28-4C0D-FF8C-84186F7FE580}"/>
              </a:ext>
            </a:extLst>
          </p:cNvPr>
          <p:cNvSpPr txBox="1"/>
          <p:nvPr/>
        </p:nvSpPr>
        <p:spPr>
          <a:xfrm>
            <a:off x="3168768" y="5605214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D   Ausliefern und Betreiben von ICT-Lösungen</a:t>
            </a:r>
            <a:endParaRPr lang="de-CH" sz="10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1B22ABE-3995-C4CB-0B16-56B7369AC24F}"/>
              </a:ext>
            </a:extLst>
          </p:cNvPr>
          <p:cNvSpPr txBox="1"/>
          <p:nvPr/>
        </p:nvSpPr>
        <p:spPr>
          <a:xfrm>
            <a:off x="3180173" y="5993485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E   Betreiben von Netzen</a:t>
            </a:r>
            <a:endParaRPr lang="de-CH" sz="100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42F48A45-44BD-86FB-B5BF-BB6EE26D01CB}"/>
              </a:ext>
            </a:extLst>
          </p:cNvPr>
          <p:cNvSpPr txBox="1"/>
          <p:nvPr/>
        </p:nvSpPr>
        <p:spPr>
          <a:xfrm>
            <a:off x="3180173" y="6345079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F   Betreiben von Serversystemen und Serverdiensten</a:t>
            </a:r>
            <a:endParaRPr lang="de-CH" sz="1000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9F625FD-71D1-7C73-C555-EB1AEE2AECDC}"/>
              </a:ext>
            </a:extLst>
          </p:cNvPr>
          <p:cNvSpPr/>
          <p:nvPr/>
        </p:nvSpPr>
        <p:spPr>
          <a:xfrm>
            <a:off x="11147393" y="4817235"/>
            <a:ext cx="388620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1/2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2687866-53F5-6DDC-FEDF-D208282A1942}"/>
              </a:ext>
            </a:extLst>
          </p:cNvPr>
          <p:cNvSpPr/>
          <p:nvPr/>
        </p:nvSpPr>
        <p:spPr>
          <a:xfrm>
            <a:off x="11136597" y="5195359"/>
            <a:ext cx="388620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1/1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3A04B82-0A0D-64A9-CE90-91B7096D3576}"/>
              </a:ext>
            </a:extLst>
          </p:cNvPr>
          <p:cNvSpPr/>
          <p:nvPr/>
        </p:nvSpPr>
        <p:spPr>
          <a:xfrm>
            <a:off x="11136597" y="5573198"/>
            <a:ext cx="388620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0/3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620A997F-ADF5-4E8D-B913-C6D9AC03D30A}"/>
              </a:ext>
            </a:extLst>
          </p:cNvPr>
          <p:cNvSpPr/>
          <p:nvPr/>
        </p:nvSpPr>
        <p:spPr>
          <a:xfrm>
            <a:off x="11136597" y="5969176"/>
            <a:ext cx="388620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0/1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8A293D1-73F6-F43B-A2DA-B0C2E301FCB3}"/>
              </a:ext>
            </a:extLst>
          </p:cNvPr>
          <p:cNvSpPr/>
          <p:nvPr/>
        </p:nvSpPr>
        <p:spPr>
          <a:xfrm>
            <a:off x="11135931" y="6366012"/>
            <a:ext cx="388620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0/1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F4E6BBA2-BE18-C2AC-0ED5-05834997BB01}"/>
              </a:ext>
            </a:extLst>
          </p:cNvPr>
          <p:cNvSpPr/>
          <p:nvPr/>
        </p:nvSpPr>
        <p:spPr>
          <a:xfrm>
            <a:off x="1016513" y="6291987"/>
            <a:ext cx="1891548" cy="2225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B8CD4BC-F45D-D2FB-4BDE-4D23E3D3AA61}"/>
              </a:ext>
            </a:extLst>
          </p:cNvPr>
          <p:cNvSpPr txBox="1"/>
          <p:nvPr/>
        </p:nvSpPr>
        <p:spPr>
          <a:xfrm>
            <a:off x="1037065" y="6239706"/>
            <a:ext cx="1191352" cy="483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Lernende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</a:p>
        </p:txBody>
      </p:sp>
      <p:pic>
        <p:nvPicPr>
          <p:cNvPr id="50" name="Grafik 49">
            <a:extLst>
              <a:ext uri="{FF2B5EF4-FFF2-40B4-BE49-F238E27FC236}">
                <a16:creationId xmlns:a16="http://schemas.microsoft.com/office/drawing/2014/main" id="{FC18706D-6675-FE6A-103A-72C5ED040B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38" y="7224703"/>
            <a:ext cx="11888230" cy="67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28FD-3A14-3ABD-515C-CC8185350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3230527-D1A6-02F5-8B81-14EC4276C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39" y="0"/>
            <a:ext cx="11260121" cy="63826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88F8C4B5-39BB-F624-33CC-4C17A0809079}"/>
              </a:ext>
            </a:extLst>
          </p:cNvPr>
          <p:cNvSpPr/>
          <p:nvPr/>
        </p:nvSpPr>
        <p:spPr>
          <a:xfrm>
            <a:off x="2814893" y="88062"/>
            <a:ext cx="74082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878A90E-5ADC-4082-A6F8-C79C80186B43}"/>
              </a:ext>
            </a:extLst>
          </p:cNvPr>
          <p:cNvSpPr/>
          <p:nvPr/>
        </p:nvSpPr>
        <p:spPr>
          <a:xfrm>
            <a:off x="2733751" y="88062"/>
            <a:ext cx="20509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[Lernende Person]</a:t>
            </a:r>
            <a:endParaRPr lang="de-CH" sz="14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B80543E-6AE4-006D-1B93-15FBB84C8EA6}"/>
              </a:ext>
            </a:extLst>
          </p:cNvPr>
          <p:cNvSpPr/>
          <p:nvPr/>
        </p:nvSpPr>
        <p:spPr>
          <a:xfrm>
            <a:off x="5478780" y="91537"/>
            <a:ext cx="158895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[Lehrberuf]</a:t>
            </a:r>
            <a:endParaRPr lang="de-CH" sz="14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0C1E75E-AD34-06A2-1F8C-E73CFFCA9C26}"/>
              </a:ext>
            </a:extLst>
          </p:cNvPr>
          <p:cNvSpPr txBox="1"/>
          <p:nvPr/>
        </p:nvSpPr>
        <p:spPr>
          <a:xfrm rot="16200000">
            <a:off x="-3203579" y="3190916"/>
            <a:ext cx="6843501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de-DE" sz="2400" dirty="0">
                <a:solidFill>
                  <a:srgbClr val="C00000"/>
                </a:solidFill>
              </a:rPr>
              <a:t>Sicht </a:t>
            </a:r>
            <a:r>
              <a:rPr lang="de-DE" sz="2400" b="1" dirty="0">
                <a:solidFill>
                  <a:srgbClr val="C00000"/>
                </a:solidFill>
              </a:rPr>
              <a:t>Lernende</a:t>
            </a:r>
            <a:r>
              <a:rPr lang="de-DE" sz="2400" dirty="0">
                <a:solidFill>
                  <a:srgbClr val="C00000"/>
                </a:solidFill>
              </a:rPr>
              <a:t> Person  </a:t>
            </a:r>
            <a:endParaRPr lang="de-CH" sz="2400" dirty="0">
              <a:solidFill>
                <a:srgbClr val="C00000"/>
              </a:solidFill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BE49C9F-5558-5989-FB66-471940AE9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467" y="24981"/>
            <a:ext cx="1674761" cy="569254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AE1C4B61-56FD-2674-9C3F-3F56FE1774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979" y="638265"/>
            <a:ext cx="9028080" cy="5306626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F7CAB442-CBAB-3F42-4B46-20B0B7AE65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73" b="-1"/>
          <a:stretch>
            <a:fillRect/>
          </a:stretch>
        </p:blipFill>
        <p:spPr>
          <a:xfrm>
            <a:off x="2697979" y="2863211"/>
            <a:ext cx="9028080" cy="4172464"/>
          </a:xfrm>
          <a:prstGeom prst="rect">
            <a:avLst/>
          </a:prstGeom>
        </p:spPr>
      </p:pic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EBF77554-B188-A1D2-86DD-ED15B9FD8563}"/>
              </a:ext>
            </a:extLst>
          </p:cNvPr>
          <p:cNvSpPr/>
          <p:nvPr/>
        </p:nvSpPr>
        <p:spPr>
          <a:xfrm>
            <a:off x="2863850" y="3001751"/>
            <a:ext cx="1613398" cy="361950"/>
          </a:xfrm>
          <a:prstGeom prst="roundRect">
            <a:avLst>
              <a:gd name="adj" fmla="val 80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13AFFF20-AB27-5B0A-6BA6-0968B3D20FF7}"/>
              </a:ext>
            </a:extLst>
          </p:cNvPr>
          <p:cNvSpPr/>
          <p:nvPr/>
        </p:nvSpPr>
        <p:spPr>
          <a:xfrm>
            <a:off x="4643119" y="3001751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2EC28A7-54E9-C856-1983-508F9C88F3E2}"/>
              </a:ext>
            </a:extLst>
          </p:cNvPr>
          <p:cNvSpPr txBox="1"/>
          <p:nvPr/>
        </p:nvSpPr>
        <p:spPr>
          <a:xfrm>
            <a:off x="2874240" y="3001751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SDM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3BF5B326-12BC-247C-7194-70308E9E957B}"/>
              </a:ext>
            </a:extLst>
          </p:cNvPr>
          <p:cNvSpPr txBox="1"/>
          <p:nvPr/>
        </p:nvSpPr>
        <p:spPr>
          <a:xfrm>
            <a:off x="4643118" y="2994369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AE606F9B-DB3A-BD18-1824-79F4BAF9F1F9}"/>
              </a:ext>
            </a:extLst>
          </p:cNvPr>
          <p:cNvSpPr/>
          <p:nvPr/>
        </p:nvSpPr>
        <p:spPr>
          <a:xfrm>
            <a:off x="6445126" y="3045024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FDC24459-7E7B-729F-3457-3E6F0F6DDF61}"/>
              </a:ext>
            </a:extLst>
          </p:cNvPr>
          <p:cNvSpPr txBox="1"/>
          <p:nvPr/>
        </p:nvSpPr>
        <p:spPr>
          <a:xfrm>
            <a:off x="6410392" y="2994369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2D2A0AB8-2329-620E-9929-9F2DDD0E3E71}"/>
              </a:ext>
            </a:extLst>
          </p:cNvPr>
          <p:cNvSpPr/>
          <p:nvPr/>
        </p:nvSpPr>
        <p:spPr>
          <a:xfrm>
            <a:off x="8151406" y="2877975"/>
            <a:ext cx="3519893" cy="1069926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AF87C6E-95AC-EBAB-98C2-634A20B7E5D1}"/>
              </a:ext>
            </a:extLst>
          </p:cNvPr>
          <p:cNvSpPr/>
          <p:nvPr/>
        </p:nvSpPr>
        <p:spPr>
          <a:xfrm>
            <a:off x="465937" y="600546"/>
            <a:ext cx="2254427" cy="624295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E4152E94-585A-0B4F-CE2D-51B7E254D7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59" y="679083"/>
            <a:ext cx="2096082" cy="3997180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57FA3747-01D6-938C-E232-AD4449BDAABC}"/>
              </a:ext>
            </a:extLst>
          </p:cNvPr>
          <p:cNvSpPr/>
          <p:nvPr/>
        </p:nvSpPr>
        <p:spPr>
          <a:xfrm>
            <a:off x="601896" y="1087226"/>
            <a:ext cx="2096082" cy="25717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276F4B8-F24C-502D-3DB7-94121AFFFFE4}"/>
              </a:ext>
            </a:extLst>
          </p:cNvPr>
          <p:cNvSpPr/>
          <p:nvPr/>
        </p:nvSpPr>
        <p:spPr>
          <a:xfrm>
            <a:off x="537618" y="625979"/>
            <a:ext cx="129132" cy="4150597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C5CCCFD-7457-7525-672B-8341A0CFEC23}"/>
              </a:ext>
            </a:extLst>
          </p:cNvPr>
          <p:cNvSpPr/>
          <p:nvPr/>
        </p:nvSpPr>
        <p:spPr>
          <a:xfrm>
            <a:off x="601897" y="1959233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9EB22D43-15E6-109C-917F-A292676F54AA}"/>
              </a:ext>
            </a:extLst>
          </p:cNvPr>
          <p:cNvSpPr txBox="1"/>
          <p:nvPr/>
        </p:nvSpPr>
        <p:spPr>
          <a:xfrm>
            <a:off x="739175" y="4831160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SDM</a:t>
            </a: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DE" sz="80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78419F03-0C50-A357-A09D-50D2B4933614}"/>
              </a:ext>
            </a:extLst>
          </p:cNvPr>
          <p:cNvSpPr txBox="1"/>
          <p:nvPr/>
        </p:nvSpPr>
        <p:spPr>
          <a:xfrm>
            <a:off x="739261" y="5174802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2FB92BF4-E1F7-2630-3595-C4BD180DF65D}"/>
              </a:ext>
            </a:extLst>
          </p:cNvPr>
          <p:cNvSpPr txBox="1"/>
          <p:nvPr/>
        </p:nvSpPr>
        <p:spPr>
          <a:xfrm>
            <a:off x="739175" y="5585528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3B626EB8-0ADD-ED41-9A99-AC202E9BE6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58"/>
          <a:stretch>
            <a:fillRect/>
          </a:stretch>
        </p:blipFill>
        <p:spPr>
          <a:xfrm>
            <a:off x="2146877" y="4743920"/>
            <a:ext cx="452761" cy="369333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17754B1C-ECDC-D9E7-CBD0-B825F19947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74"/>
          <a:stretch>
            <a:fillRect/>
          </a:stretch>
        </p:blipFill>
        <p:spPr>
          <a:xfrm>
            <a:off x="2137062" y="5562702"/>
            <a:ext cx="452761" cy="327063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6764A4B8-297F-E03F-170E-AF0E0BF2A5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62" b="32390"/>
          <a:stretch>
            <a:fillRect/>
          </a:stretch>
        </p:blipFill>
        <p:spPr>
          <a:xfrm>
            <a:off x="2146877" y="5061471"/>
            <a:ext cx="452761" cy="494204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4BB68CC9-74B4-F287-03CB-B6F61DA29EED}"/>
              </a:ext>
            </a:extLst>
          </p:cNvPr>
          <p:cNvSpPr/>
          <p:nvPr/>
        </p:nvSpPr>
        <p:spPr>
          <a:xfrm>
            <a:off x="601896" y="4615133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F12E4B5-11D0-9335-8C89-B7E9863DEC1F}"/>
              </a:ext>
            </a:extLst>
          </p:cNvPr>
          <p:cNvSpPr/>
          <p:nvPr/>
        </p:nvSpPr>
        <p:spPr>
          <a:xfrm>
            <a:off x="582029" y="6005124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Dokumentation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11DB895-850D-09E3-AFAC-9BC05DC56B8C}"/>
              </a:ext>
            </a:extLst>
          </p:cNvPr>
          <p:cNvSpPr txBox="1"/>
          <p:nvPr/>
        </p:nvSpPr>
        <p:spPr>
          <a:xfrm>
            <a:off x="2863850" y="3648805"/>
            <a:ext cx="16353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Hochgeladene Dokumente: 2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DAC4752-A96B-A656-C8A3-05FD0D09C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0701" y="2937826"/>
            <a:ext cx="1728827" cy="949283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911F189-9F51-4D6F-EF3D-94AEA66DB253}"/>
              </a:ext>
            </a:extLst>
          </p:cNvPr>
          <p:cNvSpPr txBox="1"/>
          <p:nvPr/>
        </p:nvSpPr>
        <p:spPr>
          <a:xfrm>
            <a:off x="6441610" y="2997486"/>
            <a:ext cx="139814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D854FDA-9C8C-E316-1954-4506D3877685}"/>
              </a:ext>
            </a:extLst>
          </p:cNvPr>
          <p:cNvSpPr txBox="1"/>
          <p:nvPr/>
        </p:nvSpPr>
        <p:spPr>
          <a:xfrm>
            <a:off x="6490761" y="3621125"/>
            <a:ext cx="152606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36000" rtlCol="0">
            <a:spAutoFit/>
          </a:bodyPr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Hochgeladene Dokumente: 2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E0F96A6-C012-2E7B-0C76-793B3C42D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627" y="2954358"/>
            <a:ext cx="1728827" cy="949283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C739D032-73DF-3EB4-63A4-315544CE3FC4}"/>
              </a:ext>
            </a:extLst>
          </p:cNvPr>
          <p:cNvSpPr txBox="1"/>
          <p:nvPr/>
        </p:nvSpPr>
        <p:spPr>
          <a:xfrm>
            <a:off x="4655536" y="3014018"/>
            <a:ext cx="139814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         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F10ADBF-A513-E2C1-4FD7-72EFEFB23AC6}"/>
              </a:ext>
            </a:extLst>
          </p:cNvPr>
          <p:cNvSpPr txBox="1"/>
          <p:nvPr/>
        </p:nvSpPr>
        <p:spPr>
          <a:xfrm>
            <a:off x="4704687" y="3637657"/>
            <a:ext cx="152606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36000" rtlCol="0">
            <a:spAutoFit/>
          </a:bodyPr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Hochgeladene Dokumente: 1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F8F502B-F34B-0A0B-C524-3A1B60B489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662" y="7485124"/>
            <a:ext cx="11683961" cy="7201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1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2550-01C4-9F2A-8C76-D62ED6C4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CE2EED4-D68D-69B6-69B0-CE42E628C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39" y="0"/>
            <a:ext cx="11260121" cy="63826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AB10470B-4044-53CA-12BF-B5B73EBFD46E}"/>
              </a:ext>
            </a:extLst>
          </p:cNvPr>
          <p:cNvSpPr/>
          <p:nvPr/>
        </p:nvSpPr>
        <p:spPr>
          <a:xfrm>
            <a:off x="2814893" y="88062"/>
            <a:ext cx="74082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CC7B6D3-9907-4931-7030-7E4D88CC80D4}"/>
              </a:ext>
            </a:extLst>
          </p:cNvPr>
          <p:cNvSpPr/>
          <p:nvPr/>
        </p:nvSpPr>
        <p:spPr>
          <a:xfrm>
            <a:off x="2733751" y="88062"/>
            <a:ext cx="20509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[Lernende Person]</a:t>
            </a:r>
            <a:endParaRPr lang="de-CH" sz="14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C328192-E14D-F997-B751-A7A018A9C810}"/>
              </a:ext>
            </a:extLst>
          </p:cNvPr>
          <p:cNvSpPr/>
          <p:nvPr/>
        </p:nvSpPr>
        <p:spPr>
          <a:xfrm>
            <a:off x="5478780" y="91537"/>
            <a:ext cx="158895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[Lehrberuf]</a:t>
            </a:r>
            <a:endParaRPr lang="de-CH" sz="14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18B491C-2DBB-8A21-FF41-C519941D6DBE}"/>
              </a:ext>
            </a:extLst>
          </p:cNvPr>
          <p:cNvSpPr txBox="1"/>
          <p:nvPr/>
        </p:nvSpPr>
        <p:spPr>
          <a:xfrm rot="16200000">
            <a:off x="-3203579" y="3190916"/>
            <a:ext cx="6843501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de-DE" sz="2400" dirty="0">
                <a:solidFill>
                  <a:srgbClr val="C00000"/>
                </a:solidFill>
              </a:rPr>
              <a:t>Sicht </a:t>
            </a:r>
            <a:r>
              <a:rPr lang="de-DE" sz="2400" b="1" dirty="0">
                <a:solidFill>
                  <a:srgbClr val="C00000"/>
                </a:solidFill>
              </a:rPr>
              <a:t>Lernende</a:t>
            </a:r>
            <a:r>
              <a:rPr lang="de-DE" sz="2400" dirty="0">
                <a:solidFill>
                  <a:srgbClr val="C00000"/>
                </a:solidFill>
              </a:rPr>
              <a:t> Person  </a:t>
            </a:r>
            <a:endParaRPr lang="de-CH" sz="2400" dirty="0">
              <a:solidFill>
                <a:srgbClr val="C00000"/>
              </a:solidFill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DAD2EA3-8F21-CABC-2CF4-F40A9368F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467" y="24981"/>
            <a:ext cx="1674761" cy="569254"/>
          </a:xfrm>
          <a:prstGeom prst="rect">
            <a:avLst/>
          </a:prstGeom>
        </p:spPr>
      </p:pic>
      <p:sp>
        <p:nvSpPr>
          <p:cNvPr id="34" name="Rechteck 33">
            <a:extLst>
              <a:ext uri="{FF2B5EF4-FFF2-40B4-BE49-F238E27FC236}">
                <a16:creationId xmlns:a16="http://schemas.microsoft.com/office/drawing/2014/main" id="{017F9C9D-900F-CD6A-6759-E4537BC0E59F}"/>
              </a:ext>
            </a:extLst>
          </p:cNvPr>
          <p:cNvSpPr/>
          <p:nvPr/>
        </p:nvSpPr>
        <p:spPr>
          <a:xfrm>
            <a:off x="465937" y="600546"/>
            <a:ext cx="2254427" cy="624295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9F1FE815-F831-3D68-9273-FCBDB4192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59" y="679083"/>
            <a:ext cx="2096082" cy="3997180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401C744D-DD79-1B07-0698-D7BA4719F537}"/>
              </a:ext>
            </a:extLst>
          </p:cNvPr>
          <p:cNvSpPr/>
          <p:nvPr/>
        </p:nvSpPr>
        <p:spPr>
          <a:xfrm>
            <a:off x="601896" y="1087226"/>
            <a:ext cx="2096082" cy="25717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7737D88-0FF3-E58E-CF7F-DEC4F9AA9B5F}"/>
              </a:ext>
            </a:extLst>
          </p:cNvPr>
          <p:cNvSpPr/>
          <p:nvPr/>
        </p:nvSpPr>
        <p:spPr>
          <a:xfrm>
            <a:off x="537618" y="625979"/>
            <a:ext cx="129132" cy="4150597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AC8BB88-2EA4-9AE3-759C-54506A673385}"/>
              </a:ext>
            </a:extLst>
          </p:cNvPr>
          <p:cNvSpPr/>
          <p:nvPr/>
        </p:nvSpPr>
        <p:spPr>
          <a:xfrm>
            <a:off x="601897" y="1959233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1187C63-422B-F836-2C63-A1992C6B290B}"/>
              </a:ext>
            </a:extLst>
          </p:cNvPr>
          <p:cNvSpPr txBox="1"/>
          <p:nvPr/>
        </p:nvSpPr>
        <p:spPr>
          <a:xfrm>
            <a:off x="739175" y="4831160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SDM</a:t>
            </a: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DE" sz="80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6B0E2FE8-3EC1-C815-8545-0866A4B1B5B5}"/>
              </a:ext>
            </a:extLst>
          </p:cNvPr>
          <p:cNvSpPr txBox="1"/>
          <p:nvPr/>
        </p:nvSpPr>
        <p:spPr>
          <a:xfrm>
            <a:off x="739261" y="5174802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8B850A9-3CCF-8EE6-2552-6C21855AFA77}"/>
              </a:ext>
            </a:extLst>
          </p:cNvPr>
          <p:cNvSpPr txBox="1"/>
          <p:nvPr/>
        </p:nvSpPr>
        <p:spPr>
          <a:xfrm>
            <a:off x="739175" y="5585528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6" name="Grafik 45">
            <a:extLst>
              <a:ext uri="{FF2B5EF4-FFF2-40B4-BE49-F238E27FC236}">
                <a16:creationId xmlns:a16="http://schemas.microsoft.com/office/drawing/2014/main" id="{FDFCB89D-5D05-CDAB-7492-BBE8576A6B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658"/>
          <a:stretch>
            <a:fillRect/>
          </a:stretch>
        </p:blipFill>
        <p:spPr>
          <a:xfrm>
            <a:off x="2146877" y="4743920"/>
            <a:ext cx="452761" cy="369333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14800732-6A5E-A446-E4B7-A96B2A6FCB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674"/>
          <a:stretch>
            <a:fillRect/>
          </a:stretch>
        </p:blipFill>
        <p:spPr>
          <a:xfrm>
            <a:off x="2137062" y="5562702"/>
            <a:ext cx="452761" cy="327063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5003F647-0F16-2454-959B-7488F074F7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62" b="32390"/>
          <a:stretch>
            <a:fillRect/>
          </a:stretch>
        </p:blipFill>
        <p:spPr>
          <a:xfrm>
            <a:off x="2146877" y="5061471"/>
            <a:ext cx="452761" cy="494204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598D8802-9E0B-67F3-183A-0EF6D89B49F8}"/>
              </a:ext>
            </a:extLst>
          </p:cNvPr>
          <p:cNvSpPr/>
          <p:nvPr/>
        </p:nvSpPr>
        <p:spPr>
          <a:xfrm>
            <a:off x="601896" y="4615133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F259CBF-3263-C6CE-BB76-89B877A7A9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" t="-1" r="-1" b="61099"/>
          <a:stretch>
            <a:fillRect/>
          </a:stretch>
        </p:blipFill>
        <p:spPr>
          <a:xfrm>
            <a:off x="636270" y="1454480"/>
            <a:ext cx="1997998" cy="504753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5904A4F7-47D8-8D6E-33BE-1B91C626274B}"/>
              </a:ext>
            </a:extLst>
          </p:cNvPr>
          <p:cNvSpPr/>
          <p:nvPr/>
        </p:nvSpPr>
        <p:spPr>
          <a:xfrm>
            <a:off x="601895" y="6000048"/>
            <a:ext cx="1942207" cy="2474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B7DBBA2-C694-861D-08D9-17D282CF8DDF}"/>
              </a:ext>
            </a:extLst>
          </p:cNvPr>
          <p:cNvSpPr/>
          <p:nvPr/>
        </p:nvSpPr>
        <p:spPr>
          <a:xfrm>
            <a:off x="582029" y="6005124"/>
            <a:ext cx="2022242" cy="2225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Dokumentation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A4F80896-8713-3638-043E-002F6A35418F}"/>
              </a:ext>
            </a:extLst>
          </p:cNvPr>
          <p:cNvSpPr/>
          <p:nvPr/>
        </p:nvSpPr>
        <p:spPr>
          <a:xfrm>
            <a:off x="2241182" y="6049037"/>
            <a:ext cx="261858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3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524B06B-6D4B-33FB-C76B-7B49293D2AE5}"/>
              </a:ext>
            </a:extLst>
          </p:cNvPr>
          <p:cNvSpPr/>
          <p:nvPr/>
        </p:nvSpPr>
        <p:spPr>
          <a:xfrm>
            <a:off x="2716782" y="625979"/>
            <a:ext cx="9028082" cy="61404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EC262BE-AB2C-6B77-6D4D-3CB7187C6D87}"/>
              </a:ext>
            </a:extLst>
          </p:cNvPr>
          <p:cNvSpPr/>
          <p:nvPr/>
        </p:nvSpPr>
        <p:spPr>
          <a:xfrm>
            <a:off x="2921177" y="888733"/>
            <a:ext cx="2050964" cy="361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 b="1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Dokumente</a:t>
            </a:r>
            <a:endParaRPr lang="de-CH" sz="1000" b="1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CABDD55-8FF0-82A0-E2E1-437FF7B6BCCC}"/>
              </a:ext>
            </a:extLst>
          </p:cNvPr>
          <p:cNvSpPr/>
          <p:nvPr/>
        </p:nvSpPr>
        <p:spPr>
          <a:xfrm>
            <a:off x="2830185" y="2007798"/>
            <a:ext cx="8911166" cy="8732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BEBD8032-5F9C-2C3F-C99E-96E3E71F002A}"/>
              </a:ext>
            </a:extLst>
          </p:cNvPr>
          <p:cNvSpPr txBox="1"/>
          <p:nvPr/>
        </p:nvSpPr>
        <p:spPr>
          <a:xfrm>
            <a:off x="2906899" y="1239152"/>
            <a:ext cx="8633590" cy="371998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txBody>
          <a:bodyPr wrap="square" tIns="108000" bIns="108000" rtlCol="0" anchor="ctr" anchorCtr="0">
            <a:spAutoFit/>
          </a:bodyPr>
          <a:lstStyle/>
          <a:p>
            <a:r>
              <a:rPr lang="de-DE" sz="1000" b="1" dirty="0">
                <a:latin typeface="Inter" panose="02000503000000020004" pitchFamily="2" charset="0"/>
                <a:ea typeface="Inter" panose="02000503000000020004" pitchFamily="2" charset="0"/>
              </a:rPr>
              <a:t>USB Stick Reader</a:t>
            </a:r>
            <a:r>
              <a:rPr lang="de-DE" sz="1000" dirty="0">
                <a:latin typeface="Inter" panose="02000503000000020004" pitchFamily="2" charset="0"/>
                <a:ea typeface="Inter" panose="02000503000000020004" pitchFamily="2" charset="0"/>
              </a:rPr>
              <a:t> Auslesen der USB-Kennung für CAMPLA                    </a:t>
            </a:r>
            <a:r>
              <a:rPr lang="de-DE" sz="1000" dirty="0" err="1">
                <a:latin typeface="Inter" panose="02000503000000020004" pitchFamily="2" charset="0"/>
                <a:ea typeface="Inter" panose="02000503000000020004" pitchFamily="2" charset="0"/>
              </a:rPr>
              <a:t>ImportKompetenzbereich</a:t>
            </a:r>
            <a:r>
              <a:rPr lang="de-DE" sz="1000" dirty="0">
                <a:latin typeface="Inter" panose="02000503000000020004" pitchFamily="2" charset="0"/>
                <a:ea typeface="Inter" panose="02000503000000020004" pitchFamily="2" charset="0"/>
              </a:rPr>
              <a:t> A                                  16.05.2026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772A4FF5-3FB0-5E63-397B-AADD3E61408E}"/>
              </a:ext>
            </a:extLst>
          </p:cNvPr>
          <p:cNvSpPr txBox="1"/>
          <p:nvPr/>
        </p:nvSpPr>
        <p:spPr>
          <a:xfrm>
            <a:off x="2919201" y="4501239"/>
            <a:ext cx="8623243" cy="371998"/>
          </a:xfrm>
          <a:prstGeom prst="rect">
            <a:avLst/>
          </a:prstGeom>
          <a:solidFill>
            <a:srgbClr val="EFEFE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tIns="108000" bIns="108000" rtlCol="0">
            <a:spAutoFit/>
          </a:bodyPr>
          <a:lstStyle/>
          <a:p>
            <a:r>
              <a:rPr lang="de-DE" sz="1000" b="1" dirty="0">
                <a:latin typeface="Inter" panose="02000503000000020004" pitchFamily="2" charset="0"/>
                <a:ea typeface="Inter" panose="02000503000000020004" pitchFamily="2" charset="0"/>
              </a:rPr>
              <a:t>Dokument 2     </a:t>
            </a:r>
            <a:r>
              <a:rPr lang="de-DE" sz="1000" dirty="0">
                <a:solidFill>
                  <a:schemeClr val="bg2">
                    <a:lumMod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Beispieldokument                                                              Kompetenzbereiche: C, H                                      </a:t>
            </a:r>
            <a:r>
              <a:rPr lang="de-CH" sz="1000" dirty="0">
                <a:solidFill>
                  <a:schemeClr val="bg2">
                    <a:lumMod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 51.05.2026</a:t>
            </a:r>
            <a:endParaRPr lang="de-DE" sz="1000" dirty="0">
              <a:solidFill>
                <a:schemeClr val="bg2">
                  <a:lumMod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aphicFrame>
        <p:nvGraphicFramePr>
          <p:cNvPr id="55" name="Tabelle 54">
            <a:extLst>
              <a:ext uri="{FF2B5EF4-FFF2-40B4-BE49-F238E27FC236}">
                <a16:creationId xmlns:a16="http://schemas.microsoft.com/office/drawing/2014/main" id="{EB19749F-6FEA-4968-08F0-3E95DFC52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383540"/>
              </p:ext>
            </p:extLst>
          </p:nvPr>
        </p:nvGraphicFramePr>
        <p:xfrm>
          <a:off x="2915388" y="1617929"/>
          <a:ext cx="8623241" cy="2852717"/>
        </p:xfrm>
        <a:graphic>
          <a:graphicData uri="http://schemas.openxmlformats.org/drawingml/2006/table">
            <a:tbl>
              <a:tblPr/>
              <a:tblGrid>
                <a:gridCol w="997725">
                  <a:extLst>
                    <a:ext uri="{9D8B030D-6E8A-4147-A177-3AD203B41FA5}">
                      <a16:colId xmlns:a16="http://schemas.microsoft.com/office/drawing/2014/main" val="3809384632"/>
                    </a:ext>
                  </a:extLst>
                </a:gridCol>
                <a:gridCol w="1875181">
                  <a:extLst>
                    <a:ext uri="{9D8B030D-6E8A-4147-A177-3AD203B41FA5}">
                      <a16:colId xmlns:a16="http://schemas.microsoft.com/office/drawing/2014/main" val="4225333675"/>
                    </a:ext>
                  </a:extLst>
                </a:gridCol>
                <a:gridCol w="2301039">
                  <a:extLst>
                    <a:ext uri="{9D8B030D-6E8A-4147-A177-3AD203B41FA5}">
                      <a16:colId xmlns:a16="http://schemas.microsoft.com/office/drawing/2014/main" val="2734385299"/>
                    </a:ext>
                  </a:extLst>
                </a:gridCol>
                <a:gridCol w="1724648">
                  <a:extLst>
                    <a:ext uri="{9D8B030D-6E8A-4147-A177-3AD203B41FA5}">
                      <a16:colId xmlns:a16="http://schemas.microsoft.com/office/drawing/2014/main" val="3242841540"/>
                    </a:ext>
                  </a:extLst>
                </a:gridCol>
                <a:gridCol w="1724648">
                  <a:extLst>
                    <a:ext uri="{9D8B030D-6E8A-4147-A177-3AD203B41FA5}">
                      <a16:colId xmlns:a16="http://schemas.microsoft.com/office/drawing/2014/main" val="2236279799"/>
                    </a:ext>
                  </a:extLst>
                </a:gridCol>
              </a:tblGrid>
              <a:tr h="218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Kompetenz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Beschreibung (kurz)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Einschätzung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Bloom-Stufe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b="1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Anpassung</a:t>
                      </a:r>
                      <a:endParaRPr lang="de-CH" sz="1000" b="1" dirty="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554990"/>
                  </a:ext>
                </a:extLst>
              </a:tr>
              <a:tr h="546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a3.1</a:t>
                      </a:r>
                      <a:endParaRPr lang="de-CH" sz="1000" dirty="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Informationen recherchieren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implizit vorhanden (z. B. Nutzung Tesseract, drivelist)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K2 (Verstehen)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000" b="0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K3</a:t>
                      </a:r>
                      <a:endParaRPr lang="de-CH" sz="1000" b="0" dirty="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052140"/>
                  </a:ext>
                </a:extLst>
              </a:tr>
              <a:tr h="382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a3.5</a:t>
                      </a:r>
                      <a:endParaRPr lang="de-CH" sz="100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Proof </a:t>
                      </a:r>
                      <a:r>
                        <a:rPr lang="de-CH" sz="1000" dirty="0" err="1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of</a:t>
                      </a:r>
                      <a:r>
                        <a:rPr lang="de-CH" sz="1000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Concept erstellen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OCR + USB-Erkennung umgesetzt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K4 (Analysieren/Umsetzen)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CH" sz="1000" b="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815311"/>
                  </a:ext>
                </a:extLst>
              </a:tr>
              <a:tr h="382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a4.1</a:t>
                      </a:r>
                      <a:endParaRPr lang="de-CH" sz="100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Aufgaben strukturieren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teilweise sichtbar (Module, Dateien)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K2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CH" sz="1000" b="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906613"/>
                  </a:ext>
                </a:extLst>
              </a:tr>
              <a:tr h="382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a6.1</a:t>
                      </a:r>
                      <a:endParaRPr lang="de-CH" sz="100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Fortschritt bewerten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rudimentär (Was funktioniert / was nicht)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K2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CH" sz="1000" b="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821603"/>
                  </a:ext>
                </a:extLst>
              </a:tr>
              <a:tr h="382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a6.4</a:t>
                      </a:r>
                      <a:endParaRPr lang="de-CH" sz="100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Fortschritt dokumentieren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vorhanden, aber unsystematisch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0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K2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CH" sz="1000" b="0" dirty="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809902"/>
                  </a:ext>
                </a:extLst>
              </a:tr>
              <a:tr h="546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1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b2.1</a:t>
                      </a:r>
                      <a:endParaRPr lang="de-CH" sz="100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Probleme analysieren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Bugs werden erkannt, aber nicht systematisch analysiert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000" b="0" dirty="0">
                          <a:effectLst/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K2–K3</a:t>
                      </a: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CH" sz="1000" b="0" dirty="0">
                        <a:effectLst/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 marL="77702" marR="77702" marT="38851" marB="38851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33815"/>
                  </a:ext>
                </a:extLst>
              </a:tr>
            </a:tbl>
          </a:graphicData>
        </a:graphic>
      </p:graphicFrame>
      <p:sp>
        <p:nvSpPr>
          <p:cNvPr id="22" name="Rechteck 21">
            <a:extLst>
              <a:ext uri="{FF2B5EF4-FFF2-40B4-BE49-F238E27FC236}">
                <a16:creationId xmlns:a16="http://schemas.microsoft.com/office/drawing/2014/main" id="{644D1FE4-8ECD-CBD0-72BE-EEC6FF244DF6}"/>
              </a:ext>
            </a:extLst>
          </p:cNvPr>
          <p:cNvSpPr/>
          <p:nvPr/>
        </p:nvSpPr>
        <p:spPr>
          <a:xfrm rot="2819355">
            <a:off x="11182298" y="1252127"/>
            <a:ext cx="310959" cy="310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bg2">
                    <a:lumMod val="25000"/>
                  </a:schemeClr>
                </a:solidFill>
              </a:rPr>
              <a:t>+</a:t>
            </a:r>
            <a:endParaRPr lang="de-CH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213F856B-F813-84CD-9F84-CC93B92FE2D2}"/>
              </a:ext>
            </a:extLst>
          </p:cNvPr>
          <p:cNvSpPr/>
          <p:nvPr/>
        </p:nvSpPr>
        <p:spPr>
          <a:xfrm>
            <a:off x="11209082" y="4523804"/>
            <a:ext cx="310959" cy="3109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bg2">
                    <a:lumMod val="25000"/>
                  </a:schemeClr>
                </a:solidFill>
              </a:rPr>
              <a:t>+</a:t>
            </a:r>
            <a:endParaRPr lang="de-CH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C084864F-1372-D89E-905E-FC9EEF324991}"/>
              </a:ext>
            </a:extLst>
          </p:cNvPr>
          <p:cNvSpPr txBox="1"/>
          <p:nvPr/>
        </p:nvSpPr>
        <p:spPr>
          <a:xfrm>
            <a:off x="10083429" y="866829"/>
            <a:ext cx="1436612" cy="2769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200" dirty="0">
                <a:latin typeface="Inter" panose="02000503000000020004" pitchFamily="2" charset="0"/>
                <a:ea typeface="Inter" panose="02000503000000020004" pitchFamily="2" charset="0"/>
              </a:rPr>
              <a:t>Neues Dokument</a:t>
            </a:r>
            <a:endParaRPr lang="de-CH" sz="12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11ED746F-316D-9DCB-E1CB-C1223A151E56}"/>
              </a:ext>
            </a:extLst>
          </p:cNvPr>
          <p:cNvSpPr/>
          <p:nvPr/>
        </p:nvSpPr>
        <p:spPr>
          <a:xfrm>
            <a:off x="9887798" y="2017163"/>
            <a:ext cx="1427902" cy="247069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bg2">
                    <a:lumMod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K2                    V</a:t>
            </a:r>
            <a:endParaRPr lang="de-CH" sz="1200" dirty="0">
              <a:solidFill>
                <a:schemeClr val="bg2">
                  <a:lumMod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D43FAA09-A2D2-EB1E-9F33-F30464BEBFA3}"/>
              </a:ext>
            </a:extLst>
          </p:cNvPr>
          <p:cNvSpPr/>
          <p:nvPr/>
        </p:nvSpPr>
        <p:spPr>
          <a:xfrm>
            <a:off x="9887798" y="2466282"/>
            <a:ext cx="1427902" cy="247069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bg2">
                    <a:lumMod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K4                    V</a:t>
            </a:r>
            <a:endParaRPr lang="de-CH" sz="1200" dirty="0">
              <a:solidFill>
                <a:schemeClr val="bg2">
                  <a:lumMod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8B3CC892-1340-7512-9A69-68CC778E7308}"/>
              </a:ext>
            </a:extLst>
          </p:cNvPr>
          <p:cNvSpPr/>
          <p:nvPr/>
        </p:nvSpPr>
        <p:spPr>
          <a:xfrm>
            <a:off x="9887798" y="2834718"/>
            <a:ext cx="1427902" cy="247069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bg2">
                    <a:lumMod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K2                    V</a:t>
            </a:r>
            <a:endParaRPr lang="de-CH" sz="1200" dirty="0">
              <a:solidFill>
                <a:schemeClr val="bg2">
                  <a:lumMod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C2EF5A3B-B6F0-D97A-C5B8-5C8405BC4630}"/>
              </a:ext>
            </a:extLst>
          </p:cNvPr>
          <p:cNvSpPr/>
          <p:nvPr/>
        </p:nvSpPr>
        <p:spPr>
          <a:xfrm>
            <a:off x="9887798" y="3213380"/>
            <a:ext cx="1427902" cy="247069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bg2">
                    <a:lumMod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K2                    V</a:t>
            </a:r>
            <a:endParaRPr lang="de-CH" sz="1200" dirty="0">
              <a:solidFill>
                <a:schemeClr val="bg2">
                  <a:lumMod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C40F1D93-C3BF-BC2C-309A-3DC05A298AFC}"/>
              </a:ext>
            </a:extLst>
          </p:cNvPr>
          <p:cNvSpPr/>
          <p:nvPr/>
        </p:nvSpPr>
        <p:spPr>
          <a:xfrm>
            <a:off x="9887798" y="3988904"/>
            <a:ext cx="1427902" cy="247069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bg2">
                    <a:lumMod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K2 – K3           V</a:t>
            </a:r>
            <a:endParaRPr lang="de-CH" sz="1200" dirty="0">
              <a:solidFill>
                <a:schemeClr val="bg2">
                  <a:lumMod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0BFD91F2-02B3-9983-69A8-9FA834C97391}"/>
              </a:ext>
            </a:extLst>
          </p:cNvPr>
          <p:cNvSpPr/>
          <p:nvPr/>
        </p:nvSpPr>
        <p:spPr>
          <a:xfrm>
            <a:off x="9887798" y="3599149"/>
            <a:ext cx="1427902" cy="247069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 dirty="0">
                <a:solidFill>
                  <a:schemeClr val="bg2">
                    <a:lumMod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K2                    V</a:t>
            </a:r>
            <a:endParaRPr lang="de-CH" sz="1200" dirty="0">
              <a:solidFill>
                <a:schemeClr val="bg2">
                  <a:lumMod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4DDA283A-06EC-1EBC-2BE0-8F3FDBB0EC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26114" y="6731181"/>
            <a:ext cx="114418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67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0350-95E8-5B65-226E-1FE52AB6C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F386A94-758B-E750-9866-C1D4F86837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39" y="90353"/>
            <a:ext cx="11260121" cy="63826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B27EF017-D9C7-FEBF-C892-20AF14B2EDB6}"/>
              </a:ext>
            </a:extLst>
          </p:cNvPr>
          <p:cNvSpPr/>
          <p:nvPr/>
        </p:nvSpPr>
        <p:spPr>
          <a:xfrm>
            <a:off x="3106993" y="178415"/>
            <a:ext cx="74082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C95C75-BD9A-8A80-1C5A-8E009C601CBD}"/>
              </a:ext>
            </a:extLst>
          </p:cNvPr>
          <p:cNvGrpSpPr/>
          <p:nvPr/>
        </p:nvGrpSpPr>
        <p:grpSpPr>
          <a:xfrm>
            <a:off x="3025851" y="178415"/>
            <a:ext cx="2526452" cy="471665"/>
            <a:chOff x="3041650" y="414249"/>
            <a:chExt cx="2050964" cy="471665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E93D1248-1360-EDBE-C22D-143A04E75397}"/>
                </a:ext>
              </a:extLst>
            </p:cNvPr>
            <p:cNvSpPr/>
            <p:nvPr/>
          </p:nvSpPr>
          <p:spPr>
            <a:xfrm>
              <a:off x="3041650" y="414249"/>
              <a:ext cx="2050964" cy="471665"/>
            </a:xfrm>
            <a:prstGeom prst="rect">
              <a:avLst/>
            </a:prstGeom>
            <a:solidFill>
              <a:srgbClr val="FDE7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dirty="0">
                  <a:solidFill>
                    <a:srgbClr val="5C540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Software Engineering</a:t>
              </a:r>
              <a:endParaRPr lang="de-CH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4" name="Gleichschenkliges Dreieck 13">
              <a:extLst>
                <a:ext uri="{FF2B5EF4-FFF2-40B4-BE49-F238E27FC236}">
                  <a16:creationId xmlns:a16="http://schemas.microsoft.com/office/drawing/2014/main" id="{51F19DFA-109C-BEC9-1AAB-B38E75C3BD0B}"/>
                </a:ext>
              </a:extLst>
            </p:cNvPr>
            <p:cNvSpPr/>
            <p:nvPr/>
          </p:nvSpPr>
          <p:spPr>
            <a:xfrm rot="10800000">
              <a:off x="4664781" y="635796"/>
              <a:ext cx="133066" cy="56356"/>
            </a:xfrm>
            <a:prstGeom prst="triangle">
              <a:avLst/>
            </a:prstGeom>
            <a:solidFill>
              <a:srgbClr val="5C54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/>
            </a:p>
          </p:txBody>
        </p:sp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D2F470CE-180F-B838-DCFB-CEBA80FDF5F6}"/>
              </a:ext>
            </a:extLst>
          </p:cNvPr>
          <p:cNvSpPr txBox="1"/>
          <p:nvPr/>
        </p:nvSpPr>
        <p:spPr>
          <a:xfrm rot="16200000">
            <a:off x="-867792" y="1099410"/>
            <a:ext cx="25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C00000"/>
                </a:solidFill>
              </a:rPr>
              <a:t>Sicht Berufsbildner</a:t>
            </a:r>
            <a:endParaRPr lang="de-CH" sz="2400" dirty="0">
              <a:solidFill>
                <a:srgbClr val="C00000"/>
              </a:solidFill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DE8626D6-EACE-FA63-AEB0-E993048961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079" y="728618"/>
            <a:ext cx="9028080" cy="5306626"/>
          </a:xfrm>
          <a:prstGeom prst="rect">
            <a:avLst/>
          </a:prstGeom>
        </p:spPr>
      </p:pic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592C7C13-1240-041E-E085-D865FE3F0CEC}"/>
              </a:ext>
            </a:extLst>
          </p:cNvPr>
          <p:cNvSpPr/>
          <p:nvPr/>
        </p:nvSpPr>
        <p:spPr>
          <a:xfrm>
            <a:off x="3155950" y="3092104"/>
            <a:ext cx="1613398" cy="361950"/>
          </a:xfrm>
          <a:prstGeom prst="roundRect">
            <a:avLst>
              <a:gd name="adj" fmla="val 80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A0A62C7-30AA-5601-D040-12488E56192B}"/>
              </a:ext>
            </a:extLst>
          </p:cNvPr>
          <p:cNvSpPr/>
          <p:nvPr/>
        </p:nvSpPr>
        <p:spPr>
          <a:xfrm>
            <a:off x="4935219" y="3092104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93465D8-E656-878D-D2B0-7DF97DCD51AD}"/>
              </a:ext>
            </a:extLst>
          </p:cNvPr>
          <p:cNvSpPr txBox="1"/>
          <p:nvPr/>
        </p:nvSpPr>
        <p:spPr>
          <a:xfrm>
            <a:off x="3166340" y="3092104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SDM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0DBD96D6-3DFF-D358-8529-6F2B26553A4A}"/>
              </a:ext>
            </a:extLst>
          </p:cNvPr>
          <p:cNvSpPr txBox="1"/>
          <p:nvPr/>
        </p:nvSpPr>
        <p:spPr>
          <a:xfrm>
            <a:off x="4935218" y="308472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D134C03B-C2EE-A918-4255-D1096A0B6CBF}"/>
              </a:ext>
            </a:extLst>
          </p:cNvPr>
          <p:cNvSpPr/>
          <p:nvPr/>
        </p:nvSpPr>
        <p:spPr>
          <a:xfrm>
            <a:off x="6737226" y="3135377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AE25F79F-3464-45D0-96A5-F0F89A00BA5D}"/>
              </a:ext>
            </a:extLst>
          </p:cNvPr>
          <p:cNvSpPr txBox="1"/>
          <p:nvPr/>
        </p:nvSpPr>
        <p:spPr>
          <a:xfrm>
            <a:off x="6702492" y="3084722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A19B4A15-120B-4075-4136-C339BC2BF33F}"/>
              </a:ext>
            </a:extLst>
          </p:cNvPr>
          <p:cNvSpPr/>
          <p:nvPr/>
        </p:nvSpPr>
        <p:spPr>
          <a:xfrm>
            <a:off x="8443506" y="2968328"/>
            <a:ext cx="3519893" cy="1069926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58DE2CA-62A4-C51D-15C9-45E24FAF7F83}"/>
              </a:ext>
            </a:extLst>
          </p:cNvPr>
          <p:cNvSpPr/>
          <p:nvPr/>
        </p:nvSpPr>
        <p:spPr>
          <a:xfrm>
            <a:off x="758037" y="690899"/>
            <a:ext cx="2254427" cy="6052801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37B21814-2B3F-755E-532C-0E085DA62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59" y="769436"/>
            <a:ext cx="2096082" cy="3997180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A3FBA16C-B4CF-3636-8EEE-CA1A2059C1D8}"/>
              </a:ext>
            </a:extLst>
          </p:cNvPr>
          <p:cNvSpPr/>
          <p:nvPr/>
        </p:nvSpPr>
        <p:spPr>
          <a:xfrm>
            <a:off x="893996" y="1177579"/>
            <a:ext cx="2096082" cy="25717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A4F15163-052E-9EFD-7A53-6D06141D056B}"/>
              </a:ext>
            </a:extLst>
          </p:cNvPr>
          <p:cNvSpPr/>
          <p:nvPr/>
        </p:nvSpPr>
        <p:spPr>
          <a:xfrm>
            <a:off x="829718" y="716332"/>
            <a:ext cx="129132" cy="4150597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9C2FF53-FCFB-A209-C3DE-706CE81CD7F7}"/>
              </a:ext>
            </a:extLst>
          </p:cNvPr>
          <p:cNvSpPr/>
          <p:nvPr/>
        </p:nvSpPr>
        <p:spPr>
          <a:xfrm>
            <a:off x="893997" y="2211511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70950B3-B8BC-03B6-556C-24FA7E44D3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430" y="791698"/>
            <a:ext cx="8946301" cy="595200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F7FC296-AF02-BCF8-83E1-E32C3AD7F6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" r="-1" b="57867"/>
          <a:stretch>
            <a:fillRect/>
          </a:stretch>
        </p:blipFill>
        <p:spPr>
          <a:xfrm>
            <a:off x="928370" y="1441781"/>
            <a:ext cx="1997998" cy="54667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4C0D6A92-A481-65B8-654D-9B0630A85243}"/>
              </a:ext>
            </a:extLst>
          </p:cNvPr>
          <p:cNvSpPr txBox="1"/>
          <p:nvPr/>
        </p:nvSpPr>
        <p:spPr>
          <a:xfrm>
            <a:off x="3188340" y="1228643"/>
            <a:ext cx="1699504" cy="22313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5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Bildungsplan Informatiker/in</a:t>
            </a:r>
            <a:endParaRPr lang="de-CH" sz="85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81F30F8-C926-5D5D-D70D-670D6BA4D9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04" b="15820"/>
          <a:stretch>
            <a:fillRect/>
          </a:stretch>
        </p:blipFill>
        <p:spPr>
          <a:xfrm>
            <a:off x="3022352" y="3704069"/>
            <a:ext cx="8946301" cy="1069926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75B8526C-A12F-7061-2357-8089E5A4FD05}"/>
              </a:ext>
            </a:extLst>
          </p:cNvPr>
          <p:cNvSpPr/>
          <p:nvPr/>
        </p:nvSpPr>
        <p:spPr>
          <a:xfrm>
            <a:off x="3248025" y="1031875"/>
            <a:ext cx="1243834" cy="196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7D67DF6C-067F-8118-C2C2-153569B05ED2}"/>
              </a:ext>
            </a:extLst>
          </p:cNvPr>
          <p:cNvSpPr/>
          <p:nvPr/>
        </p:nvSpPr>
        <p:spPr>
          <a:xfrm>
            <a:off x="3267783" y="1100541"/>
            <a:ext cx="521621" cy="1207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b="1" dirty="0"/>
              <a:t>SWE</a:t>
            </a:r>
            <a:endParaRPr lang="de-CH" sz="700" b="1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861EBB8-EFD0-1E8D-E3A8-2938AC9479B9}"/>
              </a:ext>
            </a:extLst>
          </p:cNvPr>
          <p:cNvSpPr/>
          <p:nvPr/>
        </p:nvSpPr>
        <p:spPr>
          <a:xfrm>
            <a:off x="11272521" y="2409539"/>
            <a:ext cx="388620" cy="283304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2/2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E41257B0-546C-0A54-CAC0-798F8A0DEFF5}"/>
              </a:ext>
            </a:extLst>
          </p:cNvPr>
          <p:cNvSpPr/>
          <p:nvPr/>
        </p:nvSpPr>
        <p:spPr>
          <a:xfrm>
            <a:off x="3084144" y="1425412"/>
            <a:ext cx="8847658" cy="90854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64A4681-19EB-8254-2D42-1F7068E39B07}"/>
              </a:ext>
            </a:extLst>
          </p:cNvPr>
          <p:cNvSpPr/>
          <p:nvPr/>
        </p:nvSpPr>
        <p:spPr>
          <a:xfrm>
            <a:off x="3120620" y="1544564"/>
            <a:ext cx="8729834" cy="283304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A </a:t>
            </a:r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Begleiten von ICT-Projekten  - </a:t>
            </a:r>
            <a:r>
              <a:rPr lang="de-DE" sz="8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/ Plattformentwicklung</a:t>
            </a:r>
            <a:endParaRPr lang="de-CH" sz="1050" i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1AFB71E7-D95F-9451-0E8C-6E66704836A3}"/>
              </a:ext>
            </a:extLst>
          </p:cNvPr>
          <p:cNvSpPr/>
          <p:nvPr/>
        </p:nvSpPr>
        <p:spPr>
          <a:xfrm>
            <a:off x="11135317" y="1544564"/>
            <a:ext cx="717594" cy="283304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4.5 / 7    </a:t>
            </a:r>
            <a:r>
              <a:rPr lang="de-DE" sz="10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x</a:t>
            </a:r>
            <a:endParaRPr lang="de-CH" sz="8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CEF726F2-B31E-CE05-3772-B2DB2A5C637F}"/>
              </a:ext>
            </a:extLst>
          </p:cNvPr>
          <p:cNvSpPr/>
          <p:nvPr/>
        </p:nvSpPr>
        <p:spPr>
          <a:xfrm>
            <a:off x="3130508" y="1831247"/>
            <a:ext cx="8729834" cy="2173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aphicFrame>
        <p:nvGraphicFramePr>
          <p:cNvPr id="57" name="Tabelle 56">
            <a:extLst>
              <a:ext uri="{FF2B5EF4-FFF2-40B4-BE49-F238E27FC236}">
                <a16:creationId xmlns:a16="http://schemas.microsoft.com/office/drawing/2014/main" id="{CC8AC05C-F49A-DC27-1148-4D6F5F401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04344"/>
              </p:ext>
            </p:extLst>
          </p:nvPr>
        </p:nvGraphicFramePr>
        <p:xfrm>
          <a:off x="3179742" y="1856782"/>
          <a:ext cx="8670712" cy="21175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858">
                  <a:extLst>
                    <a:ext uri="{9D8B030D-6E8A-4147-A177-3AD203B41FA5}">
                      <a16:colId xmlns:a16="http://schemas.microsoft.com/office/drawing/2014/main" val="3848857079"/>
                    </a:ext>
                  </a:extLst>
                </a:gridCol>
                <a:gridCol w="7617619">
                  <a:extLst>
                    <a:ext uri="{9D8B030D-6E8A-4147-A177-3AD203B41FA5}">
                      <a16:colId xmlns:a16="http://schemas.microsoft.com/office/drawing/2014/main" val="986658898"/>
                    </a:ext>
                  </a:extLst>
                </a:gridCol>
                <a:gridCol w="575235">
                  <a:extLst>
                    <a:ext uri="{9D8B030D-6E8A-4147-A177-3AD203B41FA5}">
                      <a16:colId xmlns:a16="http://schemas.microsoft.com/office/drawing/2014/main" val="3879044482"/>
                    </a:ext>
                  </a:extLst>
                </a:gridCol>
              </a:tblGrid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a.1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Bedürfnisse von Stakeholdern im Rahmen eines ICT-Projekts abklären und dokumentieren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7739331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a.2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Vorgehensmodell für ein ICT-Projekt bestimmen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0799767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a.3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Informationen zu ICT-Lösungen und zu Innovationen recherchieren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3062979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a.4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ICT-Projekte und daraus entstehende Aufgaben gemäss Vorgehensmodell planen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308741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a.5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Varianten für ICT-Lösungen visualisieren und präsentieren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1494557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a.6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Fortschritt von ICT-Projekten und daraus entstehen-den Aufgaben gemäss Vorgehensmodell überprüfen und rapportieren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727000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a.7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ICT-Lösungen der Kundin oder dem Kunden übergeben und Projekt </a:t>
                      </a:r>
                      <a:r>
                        <a:rPr lang="de-DE" sz="1000" dirty="0" err="1"/>
                        <a:t>abschliessen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1976499"/>
                  </a:ext>
                </a:extLst>
              </a:tr>
            </a:tbl>
          </a:graphicData>
        </a:graphic>
      </p:graphicFrame>
      <p:sp>
        <p:nvSpPr>
          <p:cNvPr id="59" name="Ellipse 58">
            <a:extLst>
              <a:ext uri="{FF2B5EF4-FFF2-40B4-BE49-F238E27FC236}">
                <a16:creationId xmlns:a16="http://schemas.microsoft.com/office/drawing/2014/main" id="{1CBFFE8E-92E5-395B-64A1-F99EC5F7230C}"/>
              </a:ext>
            </a:extLst>
          </p:cNvPr>
          <p:cNvSpPr/>
          <p:nvPr/>
        </p:nvSpPr>
        <p:spPr>
          <a:xfrm>
            <a:off x="11470458" y="1920651"/>
            <a:ext cx="171473" cy="17147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076C3BF2-2F0D-6061-D4F8-2B1B36400770}"/>
              </a:ext>
            </a:extLst>
          </p:cNvPr>
          <p:cNvSpPr/>
          <p:nvPr/>
        </p:nvSpPr>
        <p:spPr>
          <a:xfrm>
            <a:off x="11470458" y="2537864"/>
            <a:ext cx="171473" cy="171473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4" name="Teilkreis 63">
            <a:extLst>
              <a:ext uri="{FF2B5EF4-FFF2-40B4-BE49-F238E27FC236}">
                <a16:creationId xmlns:a16="http://schemas.microsoft.com/office/drawing/2014/main" id="{DAC2A47F-1354-742C-EDCB-8108D79B218A}"/>
              </a:ext>
            </a:extLst>
          </p:cNvPr>
          <p:cNvSpPr/>
          <p:nvPr/>
        </p:nvSpPr>
        <p:spPr>
          <a:xfrm>
            <a:off x="11463883" y="2233925"/>
            <a:ext cx="171473" cy="161587"/>
          </a:xfrm>
          <a:prstGeom prst="pie">
            <a:avLst>
              <a:gd name="adj1" fmla="val 5399447"/>
              <a:gd name="adj2" fmla="val 1620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F73B02DA-D9EB-CB8B-7CC4-9051C8AF8919}"/>
              </a:ext>
            </a:extLst>
          </p:cNvPr>
          <p:cNvSpPr/>
          <p:nvPr/>
        </p:nvSpPr>
        <p:spPr>
          <a:xfrm>
            <a:off x="11463883" y="2228816"/>
            <a:ext cx="171473" cy="171473"/>
          </a:xfrm>
          <a:prstGeom prst="ellipse">
            <a:avLst/>
          </a:prstGeom>
          <a:noFill/>
          <a:ln w="952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5" name="Teilkreis 64">
            <a:extLst>
              <a:ext uri="{FF2B5EF4-FFF2-40B4-BE49-F238E27FC236}">
                <a16:creationId xmlns:a16="http://schemas.microsoft.com/office/drawing/2014/main" id="{C499A3D4-F10C-5938-2FAE-DCE0F53E40CE}"/>
              </a:ext>
            </a:extLst>
          </p:cNvPr>
          <p:cNvSpPr/>
          <p:nvPr/>
        </p:nvSpPr>
        <p:spPr>
          <a:xfrm>
            <a:off x="11470458" y="2841526"/>
            <a:ext cx="171473" cy="161587"/>
          </a:xfrm>
          <a:prstGeom prst="pie">
            <a:avLst>
              <a:gd name="adj1" fmla="val 5399447"/>
              <a:gd name="adj2" fmla="val 1620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485BA5E3-5B2D-4839-C0E6-B73147ADCADD}"/>
              </a:ext>
            </a:extLst>
          </p:cNvPr>
          <p:cNvSpPr/>
          <p:nvPr/>
        </p:nvSpPr>
        <p:spPr>
          <a:xfrm>
            <a:off x="11470458" y="2836417"/>
            <a:ext cx="171473" cy="171473"/>
          </a:xfrm>
          <a:prstGeom prst="ellipse">
            <a:avLst/>
          </a:prstGeom>
          <a:noFill/>
          <a:ln w="952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9926DD99-329E-E5EB-6F76-219B711FDAD0}"/>
              </a:ext>
            </a:extLst>
          </p:cNvPr>
          <p:cNvSpPr/>
          <p:nvPr/>
        </p:nvSpPr>
        <p:spPr>
          <a:xfrm>
            <a:off x="11470458" y="3144132"/>
            <a:ext cx="171473" cy="17147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3A5C80D9-68CC-2D26-035B-3CFD396CFBCB}"/>
              </a:ext>
            </a:extLst>
          </p:cNvPr>
          <p:cNvSpPr/>
          <p:nvPr/>
        </p:nvSpPr>
        <p:spPr>
          <a:xfrm>
            <a:off x="11463882" y="3434092"/>
            <a:ext cx="171473" cy="17147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9" name="Teilkreis 68">
            <a:extLst>
              <a:ext uri="{FF2B5EF4-FFF2-40B4-BE49-F238E27FC236}">
                <a16:creationId xmlns:a16="http://schemas.microsoft.com/office/drawing/2014/main" id="{F159B4DC-C8AE-7D3A-DD1D-DC43B071BE8B}"/>
              </a:ext>
            </a:extLst>
          </p:cNvPr>
          <p:cNvSpPr/>
          <p:nvPr/>
        </p:nvSpPr>
        <p:spPr>
          <a:xfrm>
            <a:off x="11463882" y="3746404"/>
            <a:ext cx="171473" cy="161587"/>
          </a:xfrm>
          <a:prstGeom prst="pie">
            <a:avLst>
              <a:gd name="adj1" fmla="val 5399447"/>
              <a:gd name="adj2" fmla="val 1620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B032281A-45A0-837C-8EB2-0A0E253724E6}"/>
              </a:ext>
            </a:extLst>
          </p:cNvPr>
          <p:cNvSpPr/>
          <p:nvPr/>
        </p:nvSpPr>
        <p:spPr>
          <a:xfrm>
            <a:off x="11463882" y="3741295"/>
            <a:ext cx="171473" cy="171473"/>
          </a:xfrm>
          <a:prstGeom prst="ellipse">
            <a:avLst/>
          </a:prstGeom>
          <a:noFill/>
          <a:ln w="952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27FC6AF-160D-2147-CAEB-01AE6C30EC62}"/>
              </a:ext>
            </a:extLst>
          </p:cNvPr>
          <p:cNvSpPr/>
          <p:nvPr/>
        </p:nvSpPr>
        <p:spPr>
          <a:xfrm>
            <a:off x="3106993" y="4024695"/>
            <a:ext cx="8856406" cy="196970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9D8841A-8ECE-B6C9-81E1-62E2860949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93"/>
          <a:stretch>
            <a:fillRect/>
          </a:stretch>
        </p:blipFill>
        <p:spPr>
          <a:xfrm>
            <a:off x="3046329" y="3992069"/>
            <a:ext cx="8804125" cy="1946963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2670285F-4E1D-151F-AF2B-42829FE0CE66}"/>
              </a:ext>
            </a:extLst>
          </p:cNvPr>
          <p:cNvSpPr txBox="1"/>
          <p:nvPr/>
        </p:nvSpPr>
        <p:spPr>
          <a:xfrm>
            <a:off x="3163441" y="4098614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B   Unterstützen und Beraten im ICT-Umfeld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/ Plattformentwicklung</a:t>
            </a:r>
            <a:endParaRPr lang="de-CH" sz="1000" i="1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34AE73A-A592-9477-977F-288C8B7E2262}"/>
              </a:ext>
            </a:extLst>
          </p:cNvPr>
          <p:cNvSpPr txBox="1"/>
          <p:nvPr/>
        </p:nvSpPr>
        <p:spPr>
          <a:xfrm>
            <a:off x="3163441" y="4468653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C   Aufbauen und Pflegen von digitalen Daten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/ Plattformentwicklung</a:t>
            </a:r>
            <a:endParaRPr lang="de-CH" sz="10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A024E77-CB6F-538E-BF05-22952A90714D}"/>
              </a:ext>
            </a:extLst>
          </p:cNvPr>
          <p:cNvSpPr txBox="1"/>
          <p:nvPr/>
        </p:nvSpPr>
        <p:spPr>
          <a:xfrm>
            <a:off x="3168768" y="4855914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D   Ausliefern und Betreiben von ICT-Lösungen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  <a:endParaRPr lang="de-CH" sz="10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8564C45-1410-E5C6-247D-5560240191E9}"/>
              </a:ext>
            </a:extLst>
          </p:cNvPr>
          <p:cNvSpPr txBox="1"/>
          <p:nvPr/>
        </p:nvSpPr>
        <p:spPr>
          <a:xfrm>
            <a:off x="3180173" y="5244185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E   Betreiben von Netzen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  <a:endParaRPr lang="de-CH" sz="1000" dirty="0"/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23465BAE-E3DB-31A3-1C98-BFC68E780705}"/>
              </a:ext>
            </a:extLst>
          </p:cNvPr>
          <p:cNvSpPr txBox="1"/>
          <p:nvPr/>
        </p:nvSpPr>
        <p:spPr>
          <a:xfrm>
            <a:off x="3180173" y="5595779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F   Betreiben von Serversystemen und Serverdiensten -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Plattformentwicklung</a:t>
            </a:r>
            <a:endParaRPr lang="de-CH" sz="1000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529E744D-AD4A-B060-2417-127163E2ECB6}"/>
              </a:ext>
            </a:extLst>
          </p:cNvPr>
          <p:cNvSpPr/>
          <p:nvPr/>
        </p:nvSpPr>
        <p:spPr>
          <a:xfrm>
            <a:off x="10989276" y="4067935"/>
            <a:ext cx="546737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4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5798A224-D413-B4B2-3A76-A9BFADA06CAF}"/>
              </a:ext>
            </a:extLst>
          </p:cNvPr>
          <p:cNvSpPr/>
          <p:nvPr/>
        </p:nvSpPr>
        <p:spPr>
          <a:xfrm>
            <a:off x="10978480" y="4446059"/>
            <a:ext cx="546737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1 / 4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EF34158D-19F2-48F9-6720-BECC90DB2588}"/>
              </a:ext>
            </a:extLst>
          </p:cNvPr>
          <p:cNvSpPr/>
          <p:nvPr/>
        </p:nvSpPr>
        <p:spPr>
          <a:xfrm>
            <a:off x="10906897" y="4823898"/>
            <a:ext cx="618320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4 / 4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2E685CE1-514B-3506-8ABE-3616C0046922}"/>
              </a:ext>
            </a:extLst>
          </p:cNvPr>
          <p:cNvSpPr/>
          <p:nvPr/>
        </p:nvSpPr>
        <p:spPr>
          <a:xfrm>
            <a:off x="10989276" y="5219876"/>
            <a:ext cx="53594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0 / 6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59AA5E3D-C5A5-E7F6-B935-21C3E89BE9C7}"/>
              </a:ext>
            </a:extLst>
          </p:cNvPr>
          <p:cNvSpPr/>
          <p:nvPr/>
        </p:nvSpPr>
        <p:spPr>
          <a:xfrm>
            <a:off x="10978480" y="5616712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8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BAE64D88-A808-F312-51A8-D00B672FA09F}"/>
              </a:ext>
            </a:extLst>
          </p:cNvPr>
          <p:cNvSpPr/>
          <p:nvPr/>
        </p:nvSpPr>
        <p:spPr>
          <a:xfrm>
            <a:off x="3106993" y="5912790"/>
            <a:ext cx="8911166" cy="8732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5E819497-A735-3BF8-851E-A5BE47FD6DED}"/>
              </a:ext>
            </a:extLst>
          </p:cNvPr>
          <p:cNvSpPr/>
          <p:nvPr/>
        </p:nvSpPr>
        <p:spPr>
          <a:xfrm>
            <a:off x="10962962" y="5975023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8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C5D62B42-B5DB-F24B-14A9-232A23AA3416}"/>
              </a:ext>
            </a:extLst>
          </p:cNvPr>
          <p:cNvSpPr/>
          <p:nvPr/>
        </p:nvSpPr>
        <p:spPr>
          <a:xfrm>
            <a:off x="10954257" y="6264184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8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6" name="Grafik 75">
            <a:extLst>
              <a:ext uri="{FF2B5EF4-FFF2-40B4-BE49-F238E27FC236}">
                <a16:creationId xmlns:a16="http://schemas.microsoft.com/office/drawing/2014/main" id="{26E019BC-5812-BB33-9014-D95C545C67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45" b="28893"/>
          <a:stretch>
            <a:fillRect/>
          </a:stretch>
        </p:blipFill>
        <p:spPr>
          <a:xfrm>
            <a:off x="3046199" y="5932709"/>
            <a:ext cx="8804125" cy="784772"/>
          </a:xfrm>
          <a:prstGeom prst="rect">
            <a:avLst/>
          </a:prstGeom>
        </p:spPr>
      </p:pic>
      <p:sp>
        <p:nvSpPr>
          <p:cNvPr id="72" name="Textfeld 71">
            <a:extLst>
              <a:ext uri="{FF2B5EF4-FFF2-40B4-BE49-F238E27FC236}">
                <a16:creationId xmlns:a16="http://schemas.microsoft.com/office/drawing/2014/main" id="{65A46D41-C828-FAD7-2061-EE5A8EF5E968}"/>
              </a:ext>
            </a:extLst>
          </p:cNvPr>
          <p:cNvSpPr txBox="1"/>
          <p:nvPr/>
        </p:nvSpPr>
        <p:spPr>
          <a:xfrm>
            <a:off x="3183707" y="6025535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G   Entwickeln von Applikationen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</a:t>
            </a:r>
            <a:endParaRPr lang="de-CH" sz="1000" dirty="0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9097E12C-DC71-CD28-6FEF-68C8F7DC3795}"/>
              </a:ext>
            </a:extLst>
          </p:cNvPr>
          <p:cNvSpPr txBox="1"/>
          <p:nvPr/>
        </p:nvSpPr>
        <p:spPr>
          <a:xfrm>
            <a:off x="3194054" y="6381378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H   Ausliefern und Betreiben von Applikationen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</a:t>
            </a:r>
            <a:endParaRPr lang="de-CH" sz="1000" dirty="0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DA961F95-C3A4-40DE-205F-8668A5985C0B}"/>
              </a:ext>
            </a:extLst>
          </p:cNvPr>
          <p:cNvSpPr/>
          <p:nvPr/>
        </p:nvSpPr>
        <p:spPr>
          <a:xfrm>
            <a:off x="10975320" y="6007037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6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0DFB405C-0627-1984-5DF4-CEB529A49627}"/>
              </a:ext>
            </a:extLst>
          </p:cNvPr>
          <p:cNvSpPr/>
          <p:nvPr/>
        </p:nvSpPr>
        <p:spPr>
          <a:xfrm>
            <a:off x="10975319" y="6393673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4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98368FD1-ED6F-A0FF-37C7-8A07DAD28A06}"/>
              </a:ext>
            </a:extLst>
          </p:cNvPr>
          <p:cNvSpPr/>
          <p:nvPr/>
        </p:nvSpPr>
        <p:spPr>
          <a:xfrm>
            <a:off x="925746" y="2228816"/>
            <a:ext cx="1965992" cy="2415540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FE5E7A5A-1698-AD86-8CF5-FB0FC82A8CFE}"/>
              </a:ext>
            </a:extLst>
          </p:cNvPr>
          <p:cNvSpPr txBox="1"/>
          <p:nvPr/>
        </p:nvSpPr>
        <p:spPr>
          <a:xfrm>
            <a:off x="1018533" y="2418582"/>
            <a:ext cx="1584624" cy="483530"/>
          </a:xfrm>
          <a:prstGeom prst="rect">
            <a:avLst/>
          </a:prstGeom>
          <a:solidFill>
            <a:srgbClr val="FDE70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Informatiker/in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</a:t>
            </a:r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86525182-A37E-588D-B33A-EF03448460F2}"/>
              </a:ext>
            </a:extLst>
          </p:cNvPr>
          <p:cNvSpPr/>
          <p:nvPr/>
        </p:nvSpPr>
        <p:spPr>
          <a:xfrm>
            <a:off x="10906897" y="937153"/>
            <a:ext cx="745514" cy="2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13.5 / 33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61D61F6B-BD6D-96AC-C619-3A25815444AF}"/>
              </a:ext>
            </a:extLst>
          </p:cNvPr>
          <p:cNvSpPr/>
          <p:nvPr/>
        </p:nvSpPr>
        <p:spPr>
          <a:xfrm>
            <a:off x="2505491" y="2522179"/>
            <a:ext cx="386247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11.5%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8F68E38E-D9E1-AA1B-1FB5-F26CBCDD1343}"/>
              </a:ext>
            </a:extLst>
          </p:cNvPr>
          <p:cNvSpPr txBox="1"/>
          <p:nvPr/>
        </p:nvSpPr>
        <p:spPr>
          <a:xfrm>
            <a:off x="1028043" y="3469622"/>
            <a:ext cx="1470239" cy="275781"/>
          </a:xfrm>
          <a:prstGeom prst="rect">
            <a:avLst/>
          </a:prstGeom>
          <a:solidFill>
            <a:srgbClr val="FDE70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ICT-Fachmann</a:t>
            </a: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A6C56606-E2AC-0C52-ADE3-0F534F15F619}"/>
              </a:ext>
            </a:extLst>
          </p:cNvPr>
          <p:cNvSpPr/>
          <p:nvPr/>
        </p:nvSpPr>
        <p:spPr>
          <a:xfrm>
            <a:off x="2492586" y="3573219"/>
            <a:ext cx="375891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8%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C9B924F3-4696-8C77-506D-0F7695734A3D}"/>
              </a:ext>
            </a:extLst>
          </p:cNvPr>
          <p:cNvSpPr txBox="1"/>
          <p:nvPr/>
        </p:nvSpPr>
        <p:spPr>
          <a:xfrm>
            <a:off x="1032691" y="2973859"/>
            <a:ext cx="1584624" cy="483530"/>
          </a:xfrm>
          <a:prstGeom prst="rect">
            <a:avLst/>
          </a:prstGeom>
          <a:solidFill>
            <a:srgbClr val="FDE70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Informatiker/in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1FF8E740-D13B-BF95-F398-1B56E1BA74F8}"/>
              </a:ext>
            </a:extLst>
          </p:cNvPr>
          <p:cNvSpPr/>
          <p:nvPr/>
        </p:nvSpPr>
        <p:spPr>
          <a:xfrm>
            <a:off x="2492664" y="3071024"/>
            <a:ext cx="375891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13.5%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C9977D22-14FE-AA58-44D0-EE85C38C9F43}"/>
              </a:ext>
            </a:extLst>
          </p:cNvPr>
          <p:cNvSpPr/>
          <p:nvPr/>
        </p:nvSpPr>
        <p:spPr>
          <a:xfrm>
            <a:off x="9289772" y="940532"/>
            <a:ext cx="1699504" cy="2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EE3021C5-8CA7-B929-5C3C-1B7E01DB31EA}"/>
              </a:ext>
            </a:extLst>
          </p:cNvPr>
          <p:cNvSpPr/>
          <p:nvPr/>
        </p:nvSpPr>
        <p:spPr>
          <a:xfrm>
            <a:off x="10893562" y="1156228"/>
            <a:ext cx="745514" cy="2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11.5 / 25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DCBB8CAA-4F44-BD44-745F-BB66C9312BED}"/>
              </a:ext>
            </a:extLst>
          </p:cNvPr>
          <p:cNvSpPr/>
          <p:nvPr/>
        </p:nvSpPr>
        <p:spPr>
          <a:xfrm>
            <a:off x="9276437" y="1159607"/>
            <a:ext cx="1699504" cy="2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E0BB8C4-EDA6-98E0-B7FE-3806718DB5A3}"/>
              </a:ext>
            </a:extLst>
          </p:cNvPr>
          <p:cNvSpPr/>
          <p:nvPr/>
        </p:nvSpPr>
        <p:spPr>
          <a:xfrm>
            <a:off x="893996" y="2097656"/>
            <a:ext cx="2022242" cy="288676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</a:p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DED76B9E-6796-AA2E-3E0C-07DD0290B963}"/>
              </a:ext>
            </a:extLst>
          </p:cNvPr>
          <p:cNvSpPr/>
          <p:nvPr/>
        </p:nvSpPr>
        <p:spPr>
          <a:xfrm>
            <a:off x="925746" y="3890279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ADMINISTRATION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2CA56FC5-8E07-8495-7870-EFF5FC1093D8}"/>
              </a:ext>
            </a:extLst>
          </p:cNvPr>
          <p:cNvSpPr/>
          <p:nvPr/>
        </p:nvSpPr>
        <p:spPr>
          <a:xfrm>
            <a:off x="11855903" y="1544564"/>
            <a:ext cx="117644" cy="2507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0074D71-B347-EDD6-4D00-056A8CB1E06E}"/>
              </a:ext>
            </a:extLst>
          </p:cNvPr>
          <p:cNvSpPr/>
          <p:nvPr/>
        </p:nvSpPr>
        <p:spPr>
          <a:xfrm>
            <a:off x="995146" y="4121817"/>
            <a:ext cx="2002481" cy="280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D398E0E-4B2A-4D47-D8D2-466B012624C6}"/>
              </a:ext>
            </a:extLst>
          </p:cNvPr>
          <p:cNvSpPr/>
          <p:nvPr/>
        </p:nvSpPr>
        <p:spPr>
          <a:xfrm>
            <a:off x="903008" y="3718496"/>
            <a:ext cx="2022242" cy="322544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ADMINISTRATION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7A4EAF1-9FA7-4282-3D50-613242A45B31}"/>
              </a:ext>
            </a:extLst>
          </p:cNvPr>
          <p:cNvSpPr txBox="1"/>
          <p:nvPr/>
        </p:nvSpPr>
        <p:spPr>
          <a:xfrm>
            <a:off x="975944" y="3897874"/>
            <a:ext cx="1191352" cy="483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Lernende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</a:p>
        </p:txBody>
      </p:sp>
    </p:spTree>
    <p:extLst>
      <p:ext uri="{BB962C8B-B14F-4D97-AF65-F5344CB8AC3E}">
        <p14:creationId xmlns:p14="http://schemas.microsoft.com/office/powerpoint/2010/main" val="358188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67EEF-9F7D-533C-1719-9F0CC9825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4919715-815B-9AFA-DE85-64F9EBFAD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39" y="90353"/>
            <a:ext cx="11260121" cy="63826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401E17A5-0F62-1DD1-4120-C30CF8BC7746}"/>
              </a:ext>
            </a:extLst>
          </p:cNvPr>
          <p:cNvSpPr/>
          <p:nvPr/>
        </p:nvSpPr>
        <p:spPr>
          <a:xfrm>
            <a:off x="3106993" y="178415"/>
            <a:ext cx="74082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61E49436-DFF3-1693-2922-BFE80EAC5035}"/>
              </a:ext>
            </a:extLst>
          </p:cNvPr>
          <p:cNvGrpSpPr/>
          <p:nvPr/>
        </p:nvGrpSpPr>
        <p:grpSpPr>
          <a:xfrm>
            <a:off x="3025851" y="178415"/>
            <a:ext cx="2526452" cy="471665"/>
            <a:chOff x="3041650" y="414249"/>
            <a:chExt cx="2050964" cy="471665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897A68E-B235-37A6-6A53-EA5FC9DD3419}"/>
                </a:ext>
              </a:extLst>
            </p:cNvPr>
            <p:cNvSpPr/>
            <p:nvPr/>
          </p:nvSpPr>
          <p:spPr>
            <a:xfrm>
              <a:off x="3041650" y="414249"/>
              <a:ext cx="2050964" cy="471665"/>
            </a:xfrm>
            <a:prstGeom prst="rect">
              <a:avLst/>
            </a:prstGeom>
            <a:solidFill>
              <a:srgbClr val="FDE7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dirty="0">
                  <a:solidFill>
                    <a:srgbClr val="5C540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Software Engineering</a:t>
              </a:r>
              <a:endParaRPr lang="de-CH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4" name="Gleichschenkliges Dreieck 13">
              <a:extLst>
                <a:ext uri="{FF2B5EF4-FFF2-40B4-BE49-F238E27FC236}">
                  <a16:creationId xmlns:a16="http://schemas.microsoft.com/office/drawing/2014/main" id="{8D8DAEC0-775D-4E07-949D-B6EDCCE5E52F}"/>
                </a:ext>
              </a:extLst>
            </p:cNvPr>
            <p:cNvSpPr/>
            <p:nvPr/>
          </p:nvSpPr>
          <p:spPr>
            <a:xfrm rot="10800000">
              <a:off x="4664781" y="635796"/>
              <a:ext cx="133066" cy="56356"/>
            </a:xfrm>
            <a:prstGeom prst="triangle">
              <a:avLst/>
            </a:prstGeom>
            <a:solidFill>
              <a:srgbClr val="5C54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/>
            </a:p>
          </p:txBody>
        </p:sp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161940BB-EB26-0A5E-E019-08B167E17BFE}"/>
              </a:ext>
            </a:extLst>
          </p:cNvPr>
          <p:cNvSpPr txBox="1"/>
          <p:nvPr/>
        </p:nvSpPr>
        <p:spPr>
          <a:xfrm rot="16200000">
            <a:off x="-867792" y="1099410"/>
            <a:ext cx="25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C00000"/>
                </a:solidFill>
              </a:rPr>
              <a:t>Sicht Berufsbildner</a:t>
            </a:r>
            <a:endParaRPr lang="de-CH" sz="2400" dirty="0">
              <a:solidFill>
                <a:srgbClr val="C00000"/>
              </a:solidFill>
            </a:endParaRP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F7104532-F944-FAC2-2788-C0EA46DC5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079" y="728618"/>
            <a:ext cx="9028080" cy="5306626"/>
          </a:xfrm>
          <a:prstGeom prst="rect">
            <a:avLst/>
          </a:prstGeom>
        </p:spPr>
      </p:pic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F65487B8-7B9F-C1B2-3300-C573CC38FFF1}"/>
              </a:ext>
            </a:extLst>
          </p:cNvPr>
          <p:cNvSpPr/>
          <p:nvPr/>
        </p:nvSpPr>
        <p:spPr>
          <a:xfrm>
            <a:off x="3155950" y="3092104"/>
            <a:ext cx="1613398" cy="361950"/>
          </a:xfrm>
          <a:prstGeom prst="roundRect">
            <a:avLst>
              <a:gd name="adj" fmla="val 80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F2D836C2-7720-54BA-A047-372998DB2E6F}"/>
              </a:ext>
            </a:extLst>
          </p:cNvPr>
          <p:cNvSpPr/>
          <p:nvPr/>
        </p:nvSpPr>
        <p:spPr>
          <a:xfrm>
            <a:off x="4935219" y="3092104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DC9913B-F721-9F4D-5A2B-64F5B589697F}"/>
              </a:ext>
            </a:extLst>
          </p:cNvPr>
          <p:cNvSpPr txBox="1"/>
          <p:nvPr/>
        </p:nvSpPr>
        <p:spPr>
          <a:xfrm>
            <a:off x="3166340" y="3092104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SDM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Servicedesk Muttenz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6C283BD-DB95-53C8-5705-3CBB845C529B}"/>
              </a:ext>
            </a:extLst>
          </p:cNvPr>
          <p:cNvSpPr txBox="1"/>
          <p:nvPr/>
        </p:nvSpPr>
        <p:spPr>
          <a:xfrm>
            <a:off x="4935218" y="3084722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SA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Schuladministration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FF2EE02A-4D0F-4257-3B33-742C838C4593}"/>
              </a:ext>
            </a:extLst>
          </p:cNvPr>
          <p:cNvSpPr/>
          <p:nvPr/>
        </p:nvSpPr>
        <p:spPr>
          <a:xfrm>
            <a:off x="6737226" y="3135377"/>
            <a:ext cx="1613398" cy="4931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16D3714E-D824-9879-77DE-EB3330696126}"/>
              </a:ext>
            </a:extLst>
          </p:cNvPr>
          <p:cNvSpPr txBox="1"/>
          <p:nvPr/>
        </p:nvSpPr>
        <p:spPr>
          <a:xfrm>
            <a:off x="6702492" y="3084722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Ausbildungsplatz: SWE</a:t>
            </a:r>
          </a:p>
          <a:p>
            <a:endParaRPr lang="de-DE" sz="2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Softwareengineering</a:t>
            </a:r>
            <a:endParaRPr lang="de-CH" sz="8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10ABF90D-0313-E8E1-F187-48AEE4FFB7FF}"/>
              </a:ext>
            </a:extLst>
          </p:cNvPr>
          <p:cNvSpPr/>
          <p:nvPr/>
        </p:nvSpPr>
        <p:spPr>
          <a:xfrm>
            <a:off x="8443506" y="2968328"/>
            <a:ext cx="3519893" cy="1069926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000A291-D55D-8188-A9FC-3FB00F8C0440}"/>
              </a:ext>
            </a:extLst>
          </p:cNvPr>
          <p:cNvSpPr/>
          <p:nvPr/>
        </p:nvSpPr>
        <p:spPr>
          <a:xfrm>
            <a:off x="758037" y="690899"/>
            <a:ext cx="2254427" cy="6052801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9E9E504E-4AB3-54EA-172F-4E79F0403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59" y="769436"/>
            <a:ext cx="2096082" cy="3997180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29AD9B9E-8013-EB10-DE18-5F2EA5ECB8B8}"/>
              </a:ext>
            </a:extLst>
          </p:cNvPr>
          <p:cNvSpPr/>
          <p:nvPr/>
        </p:nvSpPr>
        <p:spPr>
          <a:xfrm>
            <a:off x="893996" y="1177579"/>
            <a:ext cx="2096082" cy="25717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9C2EA24-17D1-F0F5-60B4-103000BCA1FE}"/>
              </a:ext>
            </a:extLst>
          </p:cNvPr>
          <p:cNvSpPr/>
          <p:nvPr/>
        </p:nvSpPr>
        <p:spPr>
          <a:xfrm>
            <a:off x="829718" y="716332"/>
            <a:ext cx="129132" cy="4150597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ED13B9F-EA7D-543F-F2E5-8EF1922A061C}"/>
              </a:ext>
            </a:extLst>
          </p:cNvPr>
          <p:cNvSpPr/>
          <p:nvPr/>
        </p:nvSpPr>
        <p:spPr>
          <a:xfrm>
            <a:off x="893997" y="2211511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6C8D592-2E7E-A89A-F7B6-66D101AFAD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430" y="791698"/>
            <a:ext cx="8946301" cy="595200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44DB159-AD86-4BF1-28D6-72999AF3F3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" r="-1" b="57867"/>
          <a:stretch>
            <a:fillRect/>
          </a:stretch>
        </p:blipFill>
        <p:spPr>
          <a:xfrm>
            <a:off x="928370" y="1441781"/>
            <a:ext cx="1997998" cy="54667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D6028ED9-3AE4-DA24-11D5-9F1325442B35}"/>
              </a:ext>
            </a:extLst>
          </p:cNvPr>
          <p:cNvSpPr txBox="1"/>
          <p:nvPr/>
        </p:nvSpPr>
        <p:spPr>
          <a:xfrm>
            <a:off x="3188340" y="1228643"/>
            <a:ext cx="1699504" cy="22313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5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Bildungsplan Informatiker/in</a:t>
            </a:r>
            <a:endParaRPr lang="de-CH" sz="85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9E1296A-6923-8BAA-3333-83AAB8EE5C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04" b="15820"/>
          <a:stretch>
            <a:fillRect/>
          </a:stretch>
        </p:blipFill>
        <p:spPr>
          <a:xfrm>
            <a:off x="3022352" y="3704069"/>
            <a:ext cx="8946301" cy="1069926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17CCD731-FFCD-3D14-C15B-984FF9C31D12}"/>
              </a:ext>
            </a:extLst>
          </p:cNvPr>
          <p:cNvSpPr/>
          <p:nvPr/>
        </p:nvSpPr>
        <p:spPr>
          <a:xfrm>
            <a:off x="3248025" y="1031875"/>
            <a:ext cx="1243834" cy="196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B47D9AFE-56D9-C614-E384-BFB16C92C5C6}"/>
              </a:ext>
            </a:extLst>
          </p:cNvPr>
          <p:cNvSpPr/>
          <p:nvPr/>
        </p:nvSpPr>
        <p:spPr>
          <a:xfrm>
            <a:off x="3267783" y="1100541"/>
            <a:ext cx="521621" cy="1207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b="1" dirty="0"/>
              <a:t>SWE</a:t>
            </a:r>
            <a:endParaRPr lang="de-CH" sz="700" b="1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D30F84A-3389-B230-16CA-FC3E1069040E}"/>
              </a:ext>
            </a:extLst>
          </p:cNvPr>
          <p:cNvSpPr/>
          <p:nvPr/>
        </p:nvSpPr>
        <p:spPr>
          <a:xfrm>
            <a:off x="11272521" y="2409539"/>
            <a:ext cx="388620" cy="283304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2/2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D0FC5F79-4B86-248F-7830-B55838441A15}"/>
              </a:ext>
            </a:extLst>
          </p:cNvPr>
          <p:cNvSpPr/>
          <p:nvPr/>
        </p:nvSpPr>
        <p:spPr>
          <a:xfrm>
            <a:off x="3084144" y="1425412"/>
            <a:ext cx="8847658" cy="90854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C1B58A8-4B40-1533-9984-088E2661CB78}"/>
              </a:ext>
            </a:extLst>
          </p:cNvPr>
          <p:cNvSpPr/>
          <p:nvPr/>
        </p:nvSpPr>
        <p:spPr>
          <a:xfrm>
            <a:off x="3120620" y="1544564"/>
            <a:ext cx="8729834" cy="283304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A </a:t>
            </a:r>
            <a:r>
              <a:rPr lang="de-DE" sz="80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Begleiten von ICT-Projekten  - </a:t>
            </a:r>
            <a:r>
              <a:rPr lang="de-DE" sz="8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/ Plattformentwicklung</a:t>
            </a:r>
            <a:endParaRPr lang="de-CH" sz="1050" i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D6A3F9A9-53C5-3A16-B18E-A678427032D0}"/>
              </a:ext>
            </a:extLst>
          </p:cNvPr>
          <p:cNvSpPr/>
          <p:nvPr/>
        </p:nvSpPr>
        <p:spPr>
          <a:xfrm>
            <a:off x="11135317" y="1544564"/>
            <a:ext cx="717594" cy="283304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4.5 / 7    </a:t>
            </a:r>
            <a:r>
              <a:rPr lang="de-DE" sz="10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x</a:t>
            </a:r>
            <a:endParaRPr lang="de-CH" sz="80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5C76F22-0D12-7CBF-1C35-A2B34F71F6DB}"/>
              </a:ext>
            </a:extLst>
          </p:cNvPr>
          <p:cNvSpPr/>
          <p:nvPr/>
        </p:nvSpPr>
        <p:spPr>
          <a:xfrm>
            <a:off x="3130508" y="1831247"/>
            <a:ext cx="8729834" cy="2173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aphicFrame>
        <p:nvGraphicFramePr>
          <p:cNvPr id="57" name="Tabelle 56">
            <a:extLst>
              <a:ext uri="{FF2B5EF4-FFF2-40B4-BE49-F238E27FC236}">
                <a16:creationId xmlns:a16="http://schemas.microsoft.com/office/drawing/2014/main" id="{9E02504D-01FF-6646-2325-8A1C83056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231567"/>
              </p:ext>
            </p:extLst>
          </p:nvPr>
        </p:nvGraphicFramePr>
        <p:xfrm>
          <a:off x="3179742" y="1856782"/>
          <a:ext cx="8670712" cy="21175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7858">
                  <a:extLst>
                    <a:ext uri="{9D8B030D-6E8A-4147-A177-3AD203B41FA5}">
                      <a16:colId xmlns:a16="http://schemas.microsoft.com/office/drawing/2014/main" val="3848857079"/>
                    </a:ext>
                  </a:extLst>
                </a:gridCol>
                <a:gridCol w="7617619">
                  <a:extLst>
                    <a:ext uri="{9D8B030D-6E8A-4147-A177-3AD203B41FA5}">
                      <a16:colId xmlns:a16="http://schemas.microsoft.com/office/drawing/2014/main" val="986658898"/>
                    </a:ext>
                  </a:extLst>
                </a:gridCol>
                <a:gridCol w="575235">
                  <a:extLst>
                    <a:ext uri="{9D8B030D-6E8A-4147-A177-3AD203B41FA5}">
                      <a16:colId xmlns:a16="http://schemas.microsoft.com/office/drawing/2014/main" val="3879044482"/>
                    </a:ext>
                  </a:extLst>
                </a:gridCol>
              </a:tblGrid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a.1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Bedürfnisse von Stakeholdern im Rahmen eines ICT-Projekts abklären und dokumentieren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7739331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a.2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Vorgehensmodell für ein ICT-Projekt bestimmen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0799767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a.3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Informationen zu ICT-Lösungen und zu Innovationen recherchieren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3062979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a.4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ICT-Projekte und daraus entstehende Aufgaben gemäss Vorgehensmodell planen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308741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a.5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Varianten für ICT-Lösungen visualisieren und präsentieren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1494557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a.6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Fortschritt von ICT-Projekten und daraus entstehen-den Aufgaben gemäss Vorgehensmodell überprüfen und rapportieren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5727000"/>
                  </a:ext>
                </a:extLst>
              </a:tr>
              <a:tr h="302508">
                <a:tc>
                  <a:txBody>
                    <a:bodyPr/>
                    <a:lstStyle/>
                    <a:p>
                      <a:r>
                        <a:rPr lang="de-DE" sz="1000" dirty="0"/>
                        <a:t>a.7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000" dirty="0"/>
                        <a:t>ICT-Lösungen der Kundin oder dem Kunden übergeben und Projekt </a:t>
                      </a:r>
                      <a:r>
                        <a:rPr lang="de-DE" sz="1000" dirty="0" err="1"/>
                        <a:t>abschliessen</a:t>
                      </a:r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CH" sz="10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1976499"/>
                  </a:ext>
                </a:extLst>
              </a:tr>
            </a:tbl>
          </a:graphicData>
        </a:graphic>
      </p:graphicFrame>
      <p:sp>
        <p:nvSpPr>
          <p:cNvPr id="59" name="Ellipse 58">
            <a:extLst>
              <a:ext uri="{FF2B5EF4-FFF2-40B4-BE49-F238E27FC236}">
                <a16:creationId xmlns:a16="http://schemas.microsoft.com/office/drawing/2014/main" id="{CCD3109D-CA81-5EFA-7B77-9047335F860C}"/>
              </a:ext>
            </a:extLst>
          </p:cNvPr>
          <p:cNvSpPr/>
          <p:nvPr/>
        </p:nvSpPr>
        <p:spPr>
          <a:xfrm>
            <a:off x="11470458" y="1920651"/>
            <a:ext cx="171473" cy="17147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650A7B90-000A-A431-024C-0D4E0532DE0B}"/>
              </a:ext>
            </a:extLst>
          </p:cNvPr>
          <p:cNvSpPr/>
          <p:nvPr/>
        </p:nvSpPr>
        <p:spPr>
          <a:xfrm>
            <a:off x="11470458" y="2537864"/>
            <a:ext cx="171473" cy="171473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4" name="Teilkreis 63">
            <a:extLst>
              <a:ext uri="{FF2B5EF4-FFF2-40B4-BE49-F238E27FC236}">
                <a16:creationId xmlns:a16="http://schemas.microsoft.com/office/drawing/2014/main" id="{2C79456E-E0CC-0355-1F06-1F239E91E421}"/>
              </a:ext>
            </a:extLst>
          </p:cNvPr>
          <p:cNvSpPr/>
          <p:nvPr/>
        </p:nvSpPr>
        <p:spPr>
          <a:xfrm>
            <a:off x="11463883" y="2233925"/>
            <a:ext cx="171473" cy="161587"/>
          </a:xfrm>
          <a:prstGeom prst="pie">
            <a:avLst>
              <a:gd name="adj1" fmla="val 5399447"/>
              <a:gd name="adj2" fmla="val 1620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1C05FDD8-95E8-8C30-CD9E-97FFDD476982}"/>
              </a:ext>
            </a:extLst>
          </p:cNvPr>
          <p:cNvSpPr/>
          <p:nvPr/>
        </p:nvSpPr>
        <p:spPr>
          <a:xfrm>
            <a:off x="11463883" y="2228816"/>
            <a:ext cx="171473" cy="171473"/>
          </a:xfrm>
          <a:prstGeom prst="ellipse">
            <a:avLst/>
          </a:prstGeom>
          <a:noFill/>
          <a:ln w="952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5" name="Teilkreis 64">
            <a:extLst>
              <a:ext uri="{FF2B5EF4-FFF2-40B4-BE49-F238E27FC236}">
                <a16:creationId xmlns:a16="http://schemas.microsoft.com/office/drawing/2014/main" id="{6D588F0A-F76F-A15E-2DB5-5C48CF4E0791}"/>
              </a:ext>
            </a:extLst>
          </p:cNvPr>
          <p:cNvSpPr/>
          <p:nvPr/>
        </p:nvSpPr>
        <p:spPr>
          <a:xfrm>
            <a:off x="11470458" y="2841526"/>
            <a:ext cx="171473" cy="161587"/>
          </a:xfrm>
          <a:prstGeom prst="pie">
            <a:avLst>
              <a:gd name="adj1" fmla="val 5399447"/>
              <a:gd name="adj2" fmla="val 1620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4DADBF5C-338A-5E53-7BB2-D74F202034DE}"/>
              </a:ext>
            </a:extLst>
          </p:cNvPr>
          <p:cNvSpPr/>
          <p:nvPr/>
        </p:nvSpPr>
        <p:spPr>
          <a:xfrm>
            <a:off x="11470458" y="2836417"/>
            <a:ext cx="171473" cy="171473"/>
          </a:xfrm>
          <a:prstGeom prst="ellipse">
            <a:avLst/>
          </a:prstGeom>
          <a:noFill/>
          <a:ln w="952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4DA09F33-3A0E-6436-43F1-B26B2E5A3D77}"/>
              </a:ext>
            </a:extLst>
          </p:cNvPr>
          <p:cNvSpPr/>
          <p:nvPr/>
        </p:nvSpPr>
        <p:spPr>
          <a:xfrm>
            <a:off x="11470458" y="3144132"/>
            <a:ext cx="171473" cy="17147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CA60E7BF-BA37-4CA2-FB34-930A5681E95E}"/>
              </a:ext>
            </a:extLst>
          </p:cNvPr>
          <p:cNvSpPr/>
          <p:nvPr/>
        </p:nvSpPr>
        <p:spPr>
          <a:xfrm>
            <a:off x="11463882" y="3434092"/>
            <a:ext cx="171473" cy="17147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69" name="Teilkreis 68">
            <a:extLst>
              <a:ext uri="{FF2B5EF4-FFF2-40B4-BE49-F238E27FC236}">
                <a16:creationId xmlns:a16="http://schemas.microsoft.com/office/drawing/2014/main" id="{FAA1D541-4006-E9D9-2B94-628133D2C43F}"/>
              </a:ext>
            </a:extLst>
          </p:cNvPr>
          <p:cNvSpPr/>
          <p:nvPr/>
        </p:nvSpPr>
        <p:spPr>
          <a:xfrm>
            <a:off x="11463882" y="3746404"/>
            <a:ext cx="171473" cy="161587"/>
          </a:xfrm>
          <a:prstGeom prst="pie">
            <a:avLst>
              <a:gd name="adj1" fmla="val 5399447"/>
              <a:gd name="adj2" fmla="val 1620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03B7D36F-B26A-F1C9-6AA6-5CCE5557052E}"/>
              </a:ext>
            </a:extLst>
          </p:cNvPr>
          <p:cNvSpPr/>
          <p:nvPr/>
        </p:nvSpPr>
        <p:spPr>
          <a:xfrm>
            <a:off x="11463882" y="3741295"/>
            <a:ext cx="171473" cy="171473"/>
          </a:xfrm>
          <a:prstGeom prst="ellipse">
            <a:avLst/>
          </a:prstGeom>
          <a:noFill/>
          <a:ln w="952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FF0B61F-B070-EDA4-6F05-79A6B0C06C8F}"/>
              </a:ext>
            </a:extLst>
          </p:cNvPr>
          <p:cNvSpPr/>
          <p:nvPr/>
        </p:nvSpPr>
        <p:spPr>
          <a:xfrm>
            <a:off x="3106993" y="4024695"/>
            <a:ext cx="8856406" cy="196970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49B53206-2BC7-AF99-FA0E-1FEE956E69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93"/>
          <a:stretch>
            <a:fillRect/>
          </a:stretch>
        </p:blipFill>
        <p:spPr>
          <a:xfrm>
            <a:off x="3046329" y="3992069"/>
            <a:ext cx="8804125" cy="1946963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1D0463B6-134A-2596-CDE7-0BFDFF9644FF}"/>
              </a:ext>
            </a:extLst>
          </p:cNvPr>
          <p:cNvSpPr txBox="1"/>
          <p:nvPr/>
        </p:nvSpPr>
        <p:spPr>
          <a:xfrm>
            <a:off x="3163441" y="4098614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B   Unterstützen und Beraten im ICT-Umfeld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/ Plattformentwicklung</a:t>
            </a:r>
            <a:endParaRPr lang="de-CH" sz="1000" i="1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1E5C3ED4-5C47-94C0-2476-59CA91139526}"/>
              </a:ext>
            </a:extLst>
          </p:cNvPr>
          <p:cNvSpPr txBox="1"/>
          <p:nvPr/>
        </p:nvSpPr>
        <p:spPr>
          <a:xfrm>
            <a:off x="3163441" y="4468653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C   Aufbauen und Pflegen von digitalen Daten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/ Plattformentwicklung</a:t>
            </a:r>
            <a:endParaRPr lang="de-CH" sz="1000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2E425921-88D8-3803-163F-F4C809B32D23}"/>
              </a:ext>
            </a:extLst>
          </p:cNvPr>
          <p:cNvSpPr txBox="1"/>
          <p:nvPr/>
        </p:nvSpPr>
        <p:spPr>
          <a:xfrm>
            <a:off x="3168768" y="4855914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D   Ausliefern und Betreiben von ICT-Lösungen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  <a:endParaRPr lang="de-CH" sz="10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86B8201-875F-8B79-B4B2-B82D6A5CC433}"/>
              </a:ext>
            </a:extLst>
          </p:cNvPr>
          <p:cNvSpPr txBox="1"/>
          <p:nvPr/>
        </p:nvSpPr>
        <p:spPr>
          <a:xfrm>
            <a:off x="3180173" y="5244185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E   Betreiben von Netzen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  <a:endParaRPr lang="de-CH" sz="1000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1E265D4A-157D-ADE2-8C09-B98772C23B82}"/>
              </a:ext>
            </a:extLst>
          </p:cNvPr>
          <p:cNvSpPr/>
          <p:nvPr/>
        </p:nvSpPr>
        <p:spPr>
          <a:xfrm>
            <a:off x="10989276" y="4067935"/>
            <a:ext cx="546737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4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E94D0FA5-E9E7-6649-E92A-846BF51073AA}"/>
              </a:ext>
            </a:extLst>
          </p:cNvPr>
          <p:cNvSpPr/>
          <p:nvPr/>
        </p:nvSpPr>
        <p:spPr>
          <a:xfrm>
            <a:off x="10978480" y="4446059"/>
            <a:ext cx="546737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1 / 4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67753715-2647-3014-AC2D-DB8B1092A99C}"/>
              </a:ext>
            </a:extLst>
          </p:cNvPr>
          <p:cNvSpPr/>
          <p:nvPr/>
        </p:nvSpPr>
        <p:spPr>
          <a:xfrm>
            <a:off x="10906897" y="4823898"/>
            <a:ext cx="618320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4 / 4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559E10C3-7A9D-AE36-6CF2-EDAC7D1BC729}"/>
              </a:ext>
            </a:extLst>
          </p:cNvPr>
          <p:cNvSpPr/>
          <p:nvPr/>
        </p:nvSpPr>
        <p:spPr>
          <a:xfrm>
            <a:off x="10989276" y="5219876"/>
            <a:ext cx="53594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0 / 6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5C8BE936-349F-32A3-F509-7314EA6881E5}"/>
              </a:ext>
            </a:extLst>
          </p:cNvPr>
          <p:cNvSpPr/>
          <p:nvPr/>
        </p:nvSpPr>
        <p:spPr>
          <a:xfrm>
            <a:off x="10978480" y="5616712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8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AAC2BC70-5F4C-526E-98F1-24DB4F67E9A6}"/>
              </a:ext>
            </a:extLst>
          </p:cNvPr>
          <p:cNvSpPr/>
          <p:nvPr/>
        </p:nvSpPr>
        <p:spPr>
          <a:xfrm>
            <a:off x="3106993" y="5912790"/>
            <a:ext cx="8911166" cy="8732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FC8BF624-88D9-51CE-165A-F9877A24ACF6}"/>
              </a:ext>
            </a:extLst>
          </p:cNvPr>
          <p:cNvSpPr/>
          <p:nvPr/>
        </p:nvSpPr>
        <p:spPr>
          <a:xfrm>
            <a:off x="10962962" y="5975023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8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ED005BA3-DB42-42A8-070D-BA4CC6FFE598}"/>
              </a:ext>
            </a:extLst>
          </p:cNvPr>
          <p:cNvSpPr/>
          <p:nvPr/>
        </p:nvSpPr>
        <p:spPr>
          <a:xfrm>
            <a:off x="10954257" y="6264184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8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76" name="Grafik 75">
            <a:extLst>
              <a:ext uri="{FF2B5EF4-FFF2-40B4-BE49-F238E27FC236}">
                <a16:creationId xmlns:a16="http://schemas.microsoft.com/office/drawing/2014/main" id="{0C8E622F-0C2D-744E-114F-6AF2C8D53C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45" b="28893"/>
          <a:stretch>
            <a:fillRect/>
          </a:stretch>
        </p:blipFill>
        <p:spPr>
          <a:xfrm>
            <a:off x="3046199" y="5932709"/>
            <a:ext cx="8804125" cy="784772"/>
          </a:xfrm>
          <a:prstGeom prst="rect">
            <a:avLst/>
          </a:prstGeom>
        </p:spPr>
      </p:pic>
      <p:sp>
        <p:nvSpPr>
          <p:cNvPr id="72" name="Textfeld 71">
            <a:extLst>
              <a:ext uri="{FF2B5EF4-FFF2-40B4-BE49-F238E27FC236}">
                <a16:creationId xmlns:a16="http://schemas.microsoft.com/office/drawing/2014/main" id="{7C59687B-B4B0-3A07-5B32-A5765C8811FC}"/>
              </a:ext>
            </a:extLst>
          </p:cNvPr>
          <p:cNvSpPr txBox="1"/>
          <p:nvPr/>
        </p:nvSpPr>
        <p:spPr>
          <a:xfrm>
            <a:off x="3183707" y="6025535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G   Entwickeln von Applikationen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</a:t>
            </a:r>
            <a:endParaRPr lang="de-CH" sz="1000" dirty="0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D6668A1B-06E5-7526-E6F6-5F4E0CDCBD16}"/>
              </a:ext>
            </a:extLst>
          </p:cNvPr>
          <p:cNvSpPr txBox="1"/>
          <p:nvPr/>
        </p:nvSpPr>
        <p:spPr>
          <a:xfrm>
            <a:off x="3194054" y="6381378"/>
            <a:ext cx="6705868" cy="246221"/>
          </a:xfrm>
          <a:prstGeom prst="rect">
            <a:avLst/>
          </a:prstGeom>
          <a:solidFill>
            <a:srgbClr val="EFEFEF"/>
          </a:solidFill>
        </p:spPr>
        <p:txBody>
          <a:bodyPr wrap="square" rtlCol="0">
            <a:spAutoFit/>
          </a:bodyPr>
          <a:lstStyle/>
          <a:p>
            <a:r>
              <a:rPr lang="de-DE" sz="1000" dirty="0"/>
              <a:t>H   Ausliefern und Betreiben von Applikationen - </a:t>
            </a:r>
            <a:r>
              <a:rPr lang="de-DE" sz="1000" i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 </a:t>
            </a:r>
            <a:endParaRPr lang="de-CH" sz="1000" dirty="0"/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8AEDD015-1BA3-49B5-8209-024488FC3A1A}"/>
              </a:ext>
            </a:extLst>
          </p:cNvPr>
          <p:cNvSpPr/>
          <p:nvPr/>
        </p:nvSpPr>
        <p:spPr>
          <a:xfrm>
            <a:off x="10975320" y="6007037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6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6DEEF230-B1A9-3772-449F-F9BD8C426C47}"/>
              </a:ext>
            </a:extLst>
          </p:cNvPr>
          <p:cNvSpPr/>
          <p:nvPr/>
        </p:nvSpPr>
        <p:spPr>
          <a:xfrm>
            <a:off x="10975319" y="6393673"/>
            <a:ext cx="546071" cy="2833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2 / 4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BF63E6A5-A719-1BB8-BB56-BB97ED30EB1E}"/>
              </a:ext>
            </a:extLst>
          </p:cNvPr>
          <p:cNvSpPr/>
          <p:nvPr/>
        </p:nvSpPr>
        <p:spPr>
          <a:xfrm>
            <a:off x="925746" y="2228816"/>
            <a:ext cx="1965992" cy="2415540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875709EA-9EBA-B90C-E227-B9994B22C9CD}"/>
              </a:ext>
            </a:extLst>
          </p:cNvPr>
          <p:cNvSpPr/>
          <p:nvPr/>
        </p:nvSpPr>
        <p:spPr>
          <a:xfrm>
            <a:off x="10906897" y="937153"/>
            <a:ext cx="745514" cy="2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13.5 / 33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B0B0EAB0-7620-691C-095B-92754ADAC5E4}"/>
              </a:ext>
            </a:extLst>
          </p:cNvPr>
          <p:cNvSpPr txBox="1"/>
          <p:nvPr/>
        </p:nvSpPr>
        <p:spPr>
          <a:xfrm>
            <a:off x="1019078" y="2994489"/>
            <a:ext cx="1470239" cy="275781"/>
          </a:xfrm>
          <a:prstGeom prst="rect">
            <a:avLst/>
          </a:prstGeom>
          <a:solidFill>
            <a:srgbClr val="FDE70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ICT-Fachmann</a:t>
            </a: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1F3413DE-08DB-6F2B-CC43-19C142877F76}"/>
              </a:ext>
            </a:extLst>
          </p:cNvPr>
          <p:cNvSpPr/>
          <p:nvPr/>
        </p:nvSpPr>
        <p:spPr>
          <a:xfrm>
            <a:off x="2537971" y="3098086"/>
            <a:ext cx="375891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8%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22E32618-D2EA-4D60-6259-02DD888C7CCC}"/>
              </a:ext>
            </a:extLst>
          </p:cNvPr>
          <p:cNvSpPr/>
          <p:nvPr/>
        </p:nvSpPr>
        <p:spPr>
          <a:xfrm>
            <a:off x="9289772" y="940532"/>
            <a:ext cx="1699504" cy="2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794BFEB8-DCE0-A2A3-BC2B-08B1E06C1DA0}"/>
              </a:ext>
            </a:extLst>
          </p:cNvPr>
          <p:cNvSpPr/>
          <p:nvPr/>
        </p:nvSpPr>
        <p:spPr>
          <a:xfrm>
            <a:off x="10893562" y="1156228"/>
            <a:ext cx="745514" cy="2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r"/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11.5 / 25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B87D7220-7C50-DBFD-476E-7E5F6A88BB51}"/>
              </a:ext>
            </a:extLst>
          </p:cNvPr>
          <p:cNvSpPr/>
          <p:nvPr/>
        </p:nvSpPr>
        <p:spPr>
          <a:xfrm>
            <a:off x="9276437" y="1159607"/>
            <a:ext cx="1699504" cy="2833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ctr"/>
          <a:lstStyle/>
          <a:p>
            <a:r>
              <a:rPr lang="de-DE" sz="8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</a:t>
            </a:r>
            <a:endParaRPr lang="de-CH" sz="1050" b="1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D3CF556-9CE9-C0E5-311C-000E528F8BCF}"/>
              </a:ext>
            </a:extLst>
          </p:cNvPr>
          <p:cNvSpPr/>
          <p:nvPr/>
        </p:nvSpPr>
        <p:spPr>
          <a:xfrm>
            <a:off x="893996" y="1990076"/>
            <a:ext cx="2022242" cy="288676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 VERWALTEN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DA52D08-D4FD-E315-EF2A-00937AE7051A}"/>
              </a:ext>
            </a:extLst>
          </p:cNvPr>
          <p:cNvSpPr/>
          <p:nvPr/>
        </p:nvSpPr>
        <p:spPr>
          <a:xfrm>
            <a:off x="925746" y="341514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ADMINISTRATION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EF0596B6-3DE6-2270-9D5B-112D9C27E098}"/>
              </a:ext>
            </a:extLst>
          </p:cNvPr>
          <p:cNvSpPr/>
          <p:nvPr/>
        </p:nvSpPr>
        <p:spPr>
          <a:xfrm>
            <a:off x="11855903" y="1544564"/>
            <a:ext cx="117644" cy="2507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78A91B55-7460-8963-62ED-C9360C3D5F0C}"/>
              </a:ext>
            </a:extLst>
          </p:cNvPr>
          <p:cNvSpPr/>
          <p:nvPr/>
        </p:nvSpPr>
        <p:spPr>
          <a:xfrm>
            <a:off x="1036659" y="2344435"/>
            <a:ext cx="1934560" cy="675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E325B44-3E15-ABBB-ED0D-490F4347C70C}"/>
              </a:ext>
            </a:extLst>
          </p:cNvPr>
          <p:cNvSpPr txBox="1"/>
          <p:nvPr/>
        </p:nvSpPr>
        <p:spPr>
          <a:xfrm>
            <a:off x="1018533" y="2311004"/>
            <a:ext cx="1584624" cy="691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Informatiker/in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- Applikationsentwicklung - Plattformentwicklung</a:t>
            </a: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48007B33-193B-4506-9A56-8093492C2116}"/>
              </a:ext>
            </a:extLst>
          </p:cNvPr>
          <p:cNvSpPr/>
          <p:nvPr/>
        </p:nvSpPr>
        <p:spPr>
          <a:xfrm>
            <a:off x="2532946" y="2611826"/>
            <a:ext cx="386247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11.5%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7D479A9B-FDF7-397E-80A5-E0BCCC3A3FAB}"/>
              </a:ext>
            </a:extLst>
          </p:cNvPr>
          <p:cNvSpPr/>
          <p:nvPr/>
        </p:nvSpPr>
        <p:spPr>
          <a:xfrm>
            <a:off x="2538049" y="2820009"/>
            <a:ext cx="375891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13.5%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811F1A0-0DCE-0610-9ACB-4E116CBE31DA}"/>
              </a:ext>
            </a:extLst>
          </p:cNvPr>
          <p:cNvSpPr/>
          <p:nvPr/>
        </p:nvSpPr>
        <p:spPr>
          <a:xfrm>
            <a:off x="968738" y="3810159"/>
            <a:ext cx="2002481" cy="280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B76AF3E3-C1F7-B015-17F5-32D28EB154E2}"/>
              </a:ext>
            </a:extLst>
          </p:cNvPr>
          <p:cNvSpPr txBox="1"/>
          <p:nvPr/>
        </p:nvSpPr>
        <p:spPr>
          <a:xfrm>
            <a:off x="1007526" y="3577359"/>
            <a:ext cx="1191352" cy="483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Lernende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</a:p>
        </p:txBody>
      </p:sp>
    </p:spTree>
    <p:extLst>
      <p:ext uri="{BB962C8B-B14F-4D97-AF65-F5344CB8AC3E}">
        <p14:creationId xmlns:p14="http://schemas.microsoft.com/office/powerpoint/2010/main" val="636931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CE68E-AB51-2693-1C96-B372B557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1F92C70-69E6-4894-37EA-60FB1CD13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39" y="90353"/>
            <a:ext cx="11260121" cy="638264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B5C97647-9DC4-2EFF-0DA9-0E5BBC8CD33A}"/>
              </a:ext>
            </a:extLst>
          </p:cNvPr>
          <p:cNvSpPr/>
          <p:nvPr/>
        </p:nvSpPr>
        <p:spPr>
          <a:xfrm>
            <a:off x="3106993" y="178415"/>
            <a:ext cx="7408264" cy="47166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4751EA5-A19B-89B4-DFFD-9897F1DD7701}"/>
              </a:ext>
            </a:extLst>
          </p:cNvPr>
          <p:cNvGrpSpPr/>
          <p:nvPr/>
        </p:nvGrpSpPr>
        <p:grpSpPr>
          <a:xfrm>
            <a:off x="3025851" y="178415"/>
            <a:ext cx="2526452" cy="471665"/>
            <a:chOff x="3041650" y="414249"/>
            <a:chExt cx="2050964" cy="471665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2C8E42FB-43CD-E5EB-7FEF-AC5C75AFEA57}"/>
                </a:ext>
              </a:extLst>
            </p:cNvPr>
            <p:cNvSpPr/>
            <p:nvPr/>
          </p:nvSpPr>
          <p:spPr>
            <a:xfrm>
              <a:off x="3041650" y="414249"/>
              <a:ext cx="2050964" cy="471665"/>
            </a:xfrm>
            <a:prstGeom prst="rect">
              <a:avLst/>
            </a:prstGeom>
            <a:solidFill>
              <a:srgbClr val="FDE7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400" dirty="0">
                  <a:solidFill>
                    <a:srgbClr val="5C5402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Software Engineering</a:t>
              </a:r>
              <a:endParaRPr lang="de-CH" sz="14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4" name="Gleichschenkliges Dreieck 13">
              <a:extLst>
                <a:ext uri="{FF2B5EF4-FFF2-40B4-BE49-F238E27FC236}">
                  <a16:creationId xmlns:a16="http://schemas.microsoft.com/office/drawing/2014/main" id="{D7E0B087-7928-0214-05A8-A14249AADEEB}"/>
                </a:ext>
              </a:extLst>
            </p:cNvPr>
            <p:cNvSpPr/>
            <p:nvPr/>
          </p:nvSpPr>
          <p:spPr>
            <a:xfrm rot="10800000">
              <a:off x="4664781" y="635796"/>
              <a:ext cx="133066" cy="56356"/>
            </a:xfrm>
            <a:prstGeom prst="triangle">
              <a:avLst/>
            </a:prstGeom>
            <a:solidFill>
              <a:srgbClr val="5C54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sz="1400" dirty="0"/>
            </a:p>
          </p:txBody>
        </p:sp>
      </p:grpSp>
      <p:sp>
        <p:nvSpPr>
          <p:cNvPr id="17" name="Textfeld 16">
            <a:extLst>
              <a:ext uri="{FF2B5EF4-FFF2-40B4-BE49-F238E27FC236}">
                <a16:creationId xmlns:a16="http://schemas.microsoft.com/office/drawing/2014/main" id="{A81F2F9D-D295-96D0-6529-7E19D5001D0E}"/>
              </a:ext>
            </a:extLst>
          </p:cNvPr>
          <p:cNvSpPr txBox="1"/>
          <p:nvPr/>
        </p:nvSpPr>
        <p:spPr>
          <a:xfrm rot="16200000">
            <a:off x="-867792" y="1099410"/>
            <a:ext cx="25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C00000"/>
                </a:solidFill>
              </a:rPr>
              <a:t>Sicht Berufsbildner</a:t>
            </a:r>
            <a:endParaRPr lang="de-CH" sz="2400" dirty="0">
              <a:solidFill>
                <a:srgbClr val="C00000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D4BA699-E9DD-346B-2C1F-38BD3B1CF682}"/>
              </a:ext>
            </a:extLst>
          </p:cNvPr>
          <p:cNvSpPr/>
          <p:nvPr/>
        </p:nvSpPr>
        <p:spPr>
          <a:xfrm>
            <a:off x="758037" y="690899"/>
            <a:ext cx="2254427" cy="6052801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10D198E6-6795-4FAB-B98A-463D6044B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59" y="769436"/>
            <a:ext cx="2096082" cy="3997180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F23CA983-8EDC-2D56-D873-E86B2AE9EBE4}"/>
              </a:ext>
            </a:extLst>
          </p:cNvPr>
          <p:cNvSpPr/>
          <p:nvPr/>
        </p:nvSpPr>
        <p:spPr>
          <a:xfrm>
            <a:off x="893996" y="1177579"/>
            <a:ext cx="2096082" cy="257175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F9DA8D1C-DFD5-80DA-1326-E133D3C4D7A2}"/>
              </a:ext>
            </a:extLst>
          </p:cNvPr>
          <p:cNvSpPr/>
          <p:nvPr/>
        </p:nvSpPr>
        <p:spPr>
          <a:xfrm>
            <a:off x="829718" y="716332"/>
            <a:ext cx="129132" cy="4150597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1700" dirty="0">
              <a:solidFill>
                <a:srgbClr val="5C5402"/>
              </a:solidFill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DCBA7251-5D80-FC3E-3491-5414C19774CA}"/>
              </a:ext>
            </a:extLst>
          </p:cNvPr>
          <p:cNvSpPr/>
          <p:nvPr/>
        </p:nvSpPr>
        <p:spPr>
          <a:xfrm>
            <a:off x="893997" y="2211511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KOMPETENZBEREICHE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DC3D340-63ED-564F-CD31-9FE8D3A310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" r="-1" b="57867"/>
          <a:stretch>
            <a:fillRect/>
          </a:stretch>
        </p:blipFill>
        <p:spPr>
          <a:xfrm>
            <a:off x="928370" y="1441781"/>
            <a:ext cx="1997998" cy="54667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F192C7C-9A06-A573-E607-D8E3C3373106}"/>
              </a:ext>
            </a:extLst>
          </p:cNvPr>
          <p:cNvSpPr txBox="1"/>
          <p:nvPr/>
        </p:nvSpPr>
        <p:spPr>
          <a:xfrm>
            <a:off x="3188340" y="1228643"/>
            <a:ext cx="1699504" cy="22313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5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Bildungsplan Informatiker/in</a:t>
            </a:r>
            <a:endParaRPr lang="de-CH" sz="85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0833B96-E012-C1CE-1EDA-56D0D57C82E4}"/>
              </a:ext>
            </a:extLst>
          </p:cNvPr>
          <p:cNvSpPr/>
          <p:nvPr/>
        </p:nvSpPr>
        <p:spPr>
          <a:xfrm>
            <a:off x="3248025" y="1031875"/>
            <a:ext cx="1243834" cy="196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3AF093BF-9264-240E-4AF5-0063586DD4F6}"/>
              </a:ext>
            </a:extLst>
          </p:cNvPr>
          <p:cNvSpPr/>
          <p:nvPr/>
        </p:nvSpPr>
        <p:spPr>
          <a:xfrm>
            <a:off x="3267783" y="1100541"/>
            <a:ext cx="521621" cy="1207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b="1" dirty="0"/>
              <a:t>SWE</a:t>
            </a:r>
            <a:endParaRPr lang="de-CH" sz="700" b="1" dirty="0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A596C639-EDE3-B924-369D-B34620FE9B61}"/>
              </a:ext>
            </a:extLst>
          </p:cNvPr>
          <p:cNvSpPr/>
          <p:nvPr/>
        </p:nvSpPr>
        <p:spPr>
          <a:xfrm>
            <a:off x="3012856" y="716332"/>
            <a:ext cx="9005080" cy="602736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5C5AEF47-3399-FF54-DB2A-0A074C9FFA39}"/>
              </a:ext>
            </a:extLst>
          </p:cNvPr>
          <p:cNvSpPr/>
          <p:nvPr/>
        </p:nvSpPr>
        <p:spPr>
          <a:xfrm>
            <a:off x="925746" y="2228816"/>
            <a:ext cx="1965992" cy="2415540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45156728-3A2B-442A-07CF-DEE539ACFF42}"/>
              </a:ext>
            </a:extLst>
          </p:cNvPr>
          <p:cNvSpPr txBox="1"/>
          <p:nvPr/>
        </p:nvSpPr>
        <p:spPr>
          <a:xfrm>
            <a:off x="1019078" y="2994489"/>
            <a:ext cx="1470239" cy="275781"/>
          </a:xfrm>
          <a:prstGeom prst="rect">
            <a:avLst/>
          </a:prstGeom>
          <a:solidFill>
            <a:srgbClr val="FDE703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ICT-Fachmann</a:t>
            </a: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8FBF97F4-5DD4-3087-778C-DCA7523EF853}"/>
              </a:ext>
            </a:extLst>
          </p:cNvPr>
          <p:cNvSpPr/>
          <p:nvPr/>
        </p:nvSpPr>
        <p:spPr>
          <a:xfrm>
            <a:off x="2528446" y="3098086"/>
            <a:ext cx="375891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8%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F8A3964-F23A-0C86-311C-EA40FA86E4CC}"/>
              </a:ext>
            </a:extLst>
          </p:cNvPr>
          <p:cNvSpPr/>
          <p:nvPr/>
        </p:nvSpPr>
        <p:spPr>
          <a:xfrm>
            <a:off x="893996" y="1990076"/>
            <a:ext cx="2022242" cy="288676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 VERWALTEN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EE44BFE3-550C-952F-CA2B-7BCA735B54F5}"/>
              </a:ext>
            </a:extLst>
          </p:cNvPr>
          <p:cNvSpPr/>
          <p:nvPr/>
        </p:nvSpPr>
        <p:spPr>
          <a:xfrm>
            <a:off x="925746" y="3415146"/>
            <a:ext cx="2022242" cy="222573"/>
          </a:xfrm>
          <a:prstGeom prst="rect">
            <a:avLst/>
          </a:prstGeom>
          <a:solidFill>
            <a:srgbClr val="FDE7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 dirty="0">
                <a:solidFill>
                  <a:srgbClr val="5C5402"/>
                </a:solidFill>
                <a:latin typeface="Inter" panose="02000503000000020004" pitchFamily="2" charset="0"/>
                <a:ea typeface="Inter" panose="02000503000000020004" pitchFamily="2" charset="0"/>
              </a:rPr>
              <a:t>ADMINISTRATION</a:t>
            </a:r>
            <a:endParaRPr lang="de-CH" sz="800" dirty="0">
              <a:solidFill>
                <a:srgbClr val="5C5402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360F9175-03A2-F736-A438-76CF205F635F}"/>
              </a:ext>
            </a:extLst>
          </p:cNvPr>
          <p:cNvSpPr/>
          <p:nvPr/>
        </p:nvSpPr>
        <p:spPr>
          <a:xfrm>
            <a:off x="968738" y="1663117"/>
            <a:ext cx="2002481" cy="304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F9DC1063-E9D6-846E-BC94-5FEC36B801DB}"/>
              </a:ext>
            </a:extLst>
          </p:cNvPr>
          <p:cNvSpPr txBox="1"/>
          <p:nvPr/>
        </p:nvSpPr>
        <p:spPr>
          <a:xfrm>
            <a:off x="1018533" y="2311004"/>
            <a:ext cx="1584624" cy="691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Informatiker/in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- Applikationsentwicklung - Plattformentwicklung</a:t>
            </a: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CF8B2208-038F-71DB-B521-B31494F82DF3}"/>
              </a:ext>
            </a:extLst>
          </p:cNvPr>
          <p:cNvSpPr/>
          <p:nvPr/>
        </p:nvSpPr>
        <p:spPr>
          <a:xfrm>
            <a:off x="2523421" y="2611826"/>
            <a:ext cx="386247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11.5%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5CF7804E-F2B1-0DFC-9244-C51B1AD629B8}"/>
              </a:ext>
            </a:extLst>
          </p:cNvPr>
          <p:cNvSpPr/>
          <p:nvPr/>
        </p:nvSpPr>
        <p:spPr>
          <a:xfrm>
            <a:off x="2528524" y="2820009"/>
            <a:ext cx="375891" cy="134746"/>
          </a:xfrm>
          <a:prstGeom prst="roundRect">
            <a:avLst>
              <a:gd name="adj" fmla="val 50000"/>
            </a:avLst>
          </a:prstGeom>
          <a:solidFill>
            <a:srgbClr val="CBB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b="1" dirty="0">
                <a:solidFill>
                  <a:srgbClr val="353E5F"/>
                </a:solidFill>
              </a:rPr>
              <a:t>13.5%</a:t>
            </a:r>
            <a:endParaRPr lang="de-CH" sz="800" b="1" dirty="0">
              <a:solidFill>
                <a:srgbClr val="353E5F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493AFF-EBA9-E8D7-FC74-F73F7542EA77}"/>
              </a:ext>
            </a:extLst>
          </p:cNvPr>
          <p:cNvSpPr txBox="1"/>
          <p:nvPr/>
        </p:nvSpPr>
        <p:spPr>
          <a:xfrm>
            <a:off x="1194457" y="1677363"/>
            <a:ext cx="1584624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Übersicht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E65A540-CEC6-0341-D24B-A9190D27DF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26" y="1746011"/>
            <a:ext cx="134517" cy="159536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24D38CEE-6AD3-379C-0199-03B159B593D5}"/>
              </a:ext>
            </a:extLst>
          </p:cNvPr>
          <p:cNvSpPr/>
          <p:nvPr/>
        </p:nvSpPr>
        <p:spPr>
          <a:xfrm>
            <a:off x="3188340" y="878541"/>
            <a:ext cx="1699504" cy="8674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de-DE" sz="4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10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Informatiker/in </a:t>
            </a:r>
          </a:p>
          <a:p>
            <a:r>
              <a:rPr lang="de-DE" sz="10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Plattformentwicklung</a:t>
            </a:r>
          </a:p>
          <a:p>
            <a:endParaRPr lang="de-DE" sz="11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chemeClr val="bg2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13.5 / 33</a:t>
            </a: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</a:p>
          <a:p>
            <a:endParaRPr lang="de-CH" sz="11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BBF21C1D-25EF-D82B-5594-958B7A1C2274}"/>
              </a:ext>
            </a:extLst>
          </p:cNvPr>
          <p:cNvCxnSpPr>
            <a:cxnSpLocks/>
          </p:cNvCxnSpPr>
          <p:nvPr/>
        </p:nvCxnSpPr>
        <p:spPr>
          <a:xfrm>
            <a:off x="3295651" y="1389093"/>
            <a:ext cx="1478755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91CFF467-D365-E869-BC68-450F3DC4AE3C}"/>
              </a:ext>
            </a:extLst>
          </p:cNvPr>
          <p:cNvCxnSpPr>
            <a:cxnSpLocks/>
          </p:cNvCxnSpPr>
          <p:nvPr/>
        </p:nvCxnSpPr>
        <p:spPr>
          <a:xfrm>
            <a:off x="3295651" y="1387954"/>
            <a:ext cx="73104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2263BD83-7EB9-BD07-2435-43BADECDFFC2}"/>
              </a:ext>
            </a:extLst>
          </p:cNvPr>
          <p:cNvSpPr txBox="1"/>
          <p:nvPr/>
        </p:nvSpPr>
        <p:spPr>
          <a:xfrm>
            <a:off x="5063328" y="1228643"/>
            <a:ext cx="1699504" cy="22313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5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Bildungsplan Informatiker/in</a:t>
            </a:r>
            <a:endParaRPr lang="de-CH" sz="85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82901E2D-B481-0846-9D3A-9C23069F7EE6}"/>
              </a:ext>
            </a:extLst>
          </p:cNvPr>
          <p:cNvSpPr/>
          <p:nvPr/>
        </p:nvSpPr>
        <p:spPr>
          <a:xfrm>
            <a:off x="5123013" y="1031875"/>
            <a:ext cx="1243834" cy="196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2" name="Rechteck: abgerundete Ecken 91">
            <a:extLst>
              <a:ext uri="{FF2B5EF4-FFF2-40B4-BE49-F238E27FC236}">
                <a16:creationId xmlns:a16="http://schemas.microsoft.com/office/drawing/2014/main" id="{ED9417BD-9296-D3FD-8412-BD13349F930B}"/>
              </a:ext>
            </a:extLst>
          </p:cNvPr>
          <p:cNvSpPr/>
          <p:nvPr/>
        </p:nvSpPr>
        <p:spPr>
          <a:xfrm>
            <a:off x="5142771" y="1100541"/>
            <a:ext cx="521621" cy="1207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b="1" dirty="0"/>
              <a:t>SWE</a:t>
            </a:r>
            <a:endParaRPr lang="de-CH" sz="700" b="1" dirty="0"/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C9E1DEEE-7C02-1656-EBF1-55CE5C3C2951}"/>
              </a:ext>
            </a:extLst>
          </p:cNvPr>
          <p:cNvSpPr/>
          <p:nvPr/>
        </p:nvSpPr>
        <p:spPr>
          <a:xfrm>
            <a:off x="5063328" y="878541"/>
            <a:ext cx="1699504" cy="8674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de-DE" sz="4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10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Informatiker/in </a:t>
            </a:r>
          </a:p>
          <a:p>
            <a:r>
              <a:rPr lang="de-DE" sz="10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Applikationsentwicklung</a:t>
            </a:r>
          </a:p>
          <a:p>
            <a:endParaRPr lang="de-DE" sz="11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chemeClr val="bg2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11.5 / 25</a:t>
            </a: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</a:p>
          <a:p>
            <a:endParaRPr lang="de-CH" sz="11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F4FEC43B-8F37-1D21-EFDD-E740E7C7903B}"/>
              </a:ext>
            </a:extLst>
          </p:cNvPr>
          <p:cNvCxnSpPr>
            <a:cxnSpLocks/>
          </p:cNvCxnSpPr>
          <p:nvPr/>
        </p:nvCxnSpPr>
        <p:spPr>
          <a:xfrm>
            <a:off x="5170639" y="1389093"/>
            <a:ext cx="1478755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31E6DFAF-3C73-8DFF-0B1F-763407FAAD51}"/>
              </a:ext>
            </a:extLst>
          </p:cNvPr>
          <p:cNvCxnSpPr>
            <a:cxnSpLocks/>
          </p:cNvCxnSpPr>
          <p:nvPr/>
        </p:nvCxnSpPr>
        <p:spPr>
          <a:xfrm>
            <a:off x="5170639" y="1387954"/>
            <a:ext cx="73104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feld 95">
            <a:extLst>
              <a:ext uri="{FF2B5EF4-FFF2-40B4-BE49-F238E27FC236}">
                <a16:creationId xmlns:a16="http://schemas.microsoft.com/office/drawing/2014/main" id="{AF734903-10BF-7D16-740B-55E18DCE96AB}"/>
              </a:ext>
            </a:extLst>
          </p:cNvPr>
          <p:cNvSpPr txBox="1"/>
          <p:nvPr/>
        </p:nvSpPr>
        <p:spPr>
          <a:xfrm>
            <a:off x="6938316" y="1238715"/>
            <a:ext cx="1699504" cy="22313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50" b="1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Bildungsplan Informatiker/in</a:t>
            </a:r>
            <a:endParaRPr lang="de-CH" sz="850" b="1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25AA4926-9CE1-9192-88C4-9FE11F012BFF}"/>
              </a:ext>
            </a:extLst>
          </p:cNvPr>
          <p:cNvSpPr/>
          <p:nvPr/>
        </p:nvSpPr>
        <p:spPr>
          <a:xfrm>
            <a:off x="6998001" y="1041947"/>
            <a:ext cx="1243834" cy="1967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8" name="Rechteck: abgerundete Ecken 97">
            <a:extLst>
              <a:ext uri="{FF2B5EF4-FFF2-40B4-BE49-F238E27FC236}">
                <a16:creationId xmlns:a16="http://schemas.microsoft.com/office/drawing/2014/main" id="{6B7CC416-E94F-2BF2-AB02-5701772325A4}"/>
              </a:ext>
            </a:extLst>
          </p:cNvPr>
          <p:cNvSpPr/>
          <p:nvPr/>
        </p:nvSpPr>
        <p:spPr>
          <a:xfrm>
            <a:off x="7017759" y="1110613"/>
            <a:ext cx="521621" cy="12072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b="1" dirty="0"/>
              <a:t>SWE</a:t>
            </a:r>
            <a:endParaRPr lang="de-CH" sz="700" b="1" dirty="0"/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8A30252D-294D-F31D-68D7-65184CF390A8}"/>
              </a:ext>
            </a:extLst>
          </p:cNvPr>
          <p:cNvSpPr/>
          <p:nvPr/>
        </p:nvSpPr>
        <p:spPr>
          <a:xfrm>
            <a:off x="6938316" y="888613"/>
            <a:ext cx="1699504" cy="8674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endParaRPr lang="de-DE" sz="4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10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ICT-Fachmann/frau</a:t>
            </a:r>
          </a:p>
          <a:p>
            <a:endParaRPr lang="de-DE" sz="10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11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800" dirty="0">
                <a:solidFill>
                  <a:schemeClr val="bg2">
                    <a:lumMod val="50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8 / 15</a:t>
            </a:r>
            <a:endParaRPr lang="de-DE" sz="9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CH" sz="1100" dirty="0">
              <a:solidFill>
                <a:srgbClr val="353E5F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EA54061A-B340-C430-10D0-46924B786DFF}"/>
              </a:ext>
            </a:extLst>
          </p:cNvPr>
          <p:cNvCxnSpPr>
            <a:cxnSpLocks/>
          </p:cNvCxnSpPr>
          <p:nvPr/>
        </p:nvCxnSpPr>
        <p:spPr>
          <a:xfrm>
            <a:off x="7045627" y="1399165"/>
            <a:ext cx="1478755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B6912E36-4142-50EC-631C-6A6D7AD12899}"/>
              </a:ext>
            </a:extLst>
          </p:cNvPr>
          <p:cNvCxnSpPr>
            <a:cxnSpLocks/>
          </p:cNvCxnSpPr>
          <p:nvPr/>
        </p:nvCxnSpPr>
        <p:spPr>
          <a:xfrm>
            <a:off x="7045627" y="1398026"/>
            <a:ext cx="73104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hteck 101">
            <a:extLst>
              <a:ext uri="{FF2B5EF4-FFF2-40B4-BE49-F238E27FC236}">
                <a16:creationId xmlns:a16="http://schemas.microsoft.com/office/drawing/2014/main" id="{1C5C6354-01D1-43ED-3A85-4C5EF68C13A4}"/>
              </a:ext>
            </a:extLst>
          </p:cNvPr>
          <p:cNvSpPr/>
          <p:nvPr/>
        </p:nvSpPr>
        <p:spPr>
          <a:xfrm>
            <a:off x="968738" y="3810159"/>
            <a:ext cx="2002481" cy="2804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32518D52-66E7-C616-B7BE-05468F9BF1E5}"/>
              </a:ext>
            </a:extLst>
          </p:cNvPr>
          <p:cNvSpPr txBox="1"/>
          <p:nvPr/>
        </p:nvSpPr>
        <p:spPr>
          <a:xfrm>
            <a:off x="1007526" y="3577359"/>
            <a:ext cx="1191352" cy="483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Lernende</a:t>
            </a:r>
          </a:p>
          <a:p>
            <a:pPr>
              <a:lnSpc>
                <a:spcPct val="150000"/>
              </a:lnSpc>
            </a:pPr>
            <a:r>
              <a:rPr lang="de-DE" sz="900" dirty="0">
                <a:solidFill>
                  <a:srgbClr val="353E5F"/>
                </a:solidFill>
                <a:latin typeface="Inter" panose="02000503000000020004" pitchFamily="2" charset="0"/>
                <a:ea typeface="Inter" panose="02000503000000020004" pitchFamily="2" charset="0"/>
              </a:rPr>
              <a:t>Ausbildungsplätze</a:t>
            </a:r>
          </a:p>
        </p:txBody>
      </p:sp>
    </p:spTree>
    <p:extLst>
      <p:ext uri="{BB962C8B-B14F-4D97-AF65-F5344CB8AC3E}">
        <p14:creationId xmlns:p14="http://schemas.microsoft.com/office/powerpoint/2010/main" val="2670653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CE10BC5-0982-2068-4A51-1EC1B7360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227288"/>
            <a:ext cx="7706896" cy="628781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4065D11-EBF2-F192-9D9A-4DCC341DD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66" y="2447788"/>
            <a:ext cx="10517068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04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BC486E6-6571-B213-1978-492F0663A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5" y="60668"/>
            <a:ext cx="5944116" cy="336833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8D274F-0F53-477A-1E16-72D477A21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902" y="199031"/>
            <a:ext cx="5466391" cy="3097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1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D2C0C45-EB0B-64BD-1D71-7C6A20CF9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20" t="57262" r="8187" b="3452"/>
          <a:stretch>
            <a:fillRect/>
          </a:stretch>
        </p:blipFill>
        <p:spPr>
          <a:xfrm>
            <a:off x="1686560" y="1554480"/>
            <a:ext cx="8067040" cy="1676400"/>
          </a:xfrm>
          <a:prstGeom prst="rect">
            <a:avLst/>
          </a:prstGeom>
        </p:spPr>
      </p:pic>
      <p:pic>
        <p:nvPicPr>
          <p:cNvPr id="1030" name="Picture 6" descr="Computer-Maus-Pfeil-Cursor oder Zeiger-Symbol im Linienstil-Design isoliert auf weißem Hintergrund. editierbarer Strich. 17129444 Vektor Kunst bei Vecteezy">
            <a:extLst>
              <a:ext uri="{FF2B5EF4-FFF2-40B4-BE49-F238E27FC236}">
                <a16:creationId xmlns:a16="http://schemas.microsoft.com/office/drawing/2014/main" id="{DCF52569-6CD6-1681-9394-8706AD225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963" y="1861750"/>
            <a:ext cx="815683" cy="8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1F8AE88-BE39-8FBE-4A9F-DCB571C14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1827" y="3315657"/>
            <a:ext cx="8065707" cy="167654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DCAD006-F014-A15D-41E8-F1171162B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080" y="3608102"/>
            <a:ext cx="2937754" cy="293775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83A63AA-F467-3FE6-C4D4-DF9CB13B02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747" y="5582587"/>
            <a:ext cx="285790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4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6BC9205-CF01-6DAC-0D77-6390348E2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04" y="752475"/>
            <a:ext cx="3524457" cy="471362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1698CA0-C147-456C-3519-3F812B6EA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012" y="752475"/>
            <a:ext cx="3230688" cy="4713626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4BA9F8A-7FF2-3D6C-8800-1FEF90611056}"/>
              </a:ext>
            </a:extLst>
          </p:cNvPr>
          <p:cNvSpPr/>
          <p:nvPr/>
        </p:nvSpPr>
        <p:spPr>
          <a:xfrm>
            <a:off x="5524500" y="996315"/>
            <a:ext cx="434340" cy="32004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866E0BB-0EB6-0B10-E044-B7A1C1306881}"/>
              </a:ext>
            </a:extLst>
          </p:cNvPr>
          <p:cNvSpPr/>
          <p:nvPr/>
        </p:nvSpPr>
        <p:spPr>
          <a:xfrm>
            <a:off x="1470660" y="1156335"/>
            <a:ext cx="434340" cy="32004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A8CC8B7-7EE9-0CEA-8CFB-FDA2F54F47ED}"/>
              </a:ext>
            </a:extLst>
          </p:cNvPr>
          <p:cNvSpPr txBox="1"/>
          <p:nvPr/>
        </p:nvSpPr>
        <p:spPr>
          <a:xfrm>
            <a:off x="611722" y="365879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Ist: falsch</a:t>
            </a:r>
            <a:endParaRPr lang="de-CH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DC7E28A5-5D4B-5005-783A-D3022F089942}"/>
              </a:ext>
            </a:extLst>
          </p:cNvPr>
          <p:cNvSpPr/>
          <p:nvPr/>
        </p:nvSpPr>
        <p:spPr>
          <a:xfrm>
            <a:off x="4509550" y="1231878"/>
            <a:ext cx="1449289" cy="2616221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DAC66AD-8E49-14AD-B3F6-062A55528FB3}"/>
              </a:ext>
            </a:extLst>
          </p:cNvPr>
          <p:cNvSpPr/>
          <p:nvPr/>
        </p:nvSpPr>
        <p:spPr>
          <a:xfrm>
            <a:off x="646003" y="1476376"/>
            <a:ext cx="1163747" cy="2371724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B03A1A7C-6D8A-86A6-BE04-85B9BE86CD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744" y="735211"/>
            <a:ext cx="2752208" cy="4265414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10543CA9-0BDE-62E0-1034-8D263C8F1C17}"/>
              </a:ext>
            </a:extLst>
          </p:cNvPr>
          <p:cNvSpPr/>
          <p:nvPr/>
        </p:nvSpPr>
        <p:spPr>
          <a:xfrm>
            <a:off x="9544050" y="996314"/>
            <a:ext cx="323072" cy="394335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C29FB8CD-B517-1917-65FF-1748E226EE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557" y="735211"/>
            <a:ext cx="2132721" cy="4843924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D35361DF-BA7D-8770-E015-C29652224F33}"/>
              </a:ext>
            </a:extLst>
          </p:cNvPr>
          <p:cNvSpPr/>
          <p:nvPr/>
        </p:nvSpPr>
        <p:spPr>
          <a:xfrm>
            <a:off x="11413983" y="735211"/>
            <a:ext cx="235092" cy="261103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B018E549-A4D6-62DE-2EC1-C42A367671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889"/>
          <a:stretch>
            <a:fillRect/>
          </a:stretch>
        </p:blipFill>
        <p:spPr>
          <a:xfrm>
            <a:off x="7988518" y="5579135"/>
            <a:ext cx="2932659" cy="3960496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271D12D3-A013-7E2B-93FA-526B2FFED31A}"/>
              </a:ext>
            </a:extLst>
          </p:cNvPr>
          <p:cNvSpPr/>
          <p:nvPr/>
        </p:nvSpPr>
        <p:spPr>
          <a:xfrm>
            <a:off x="9090660" y="5579746"/>
            <a:ext cx="548640" cy="320040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EDD47A7-849C-A3CB-0FF2-50009CB8584C}"/>
              </a:ext>
            </a:extLst>
          </p:cNvPr>
          <p:cNvCxnSpPr>
            <a:stCxn id="27" idx="3"/>
          </p:cNvCxnSpPr>
          <p:nvPr/>
        </p:nvCxnSpPr>
        <p:spPr>
          <a:xfrm>
            <a:off x="9639300" y="5739766"/>
            <a:ext cx="885825" cy="1333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980FF41B-3F34-1FC1-9BA4-CFB67B03BC74}"/>
              </a:ext>
            </a:extLst>
          </p:cNvPr>
          <p:cNvSpPr txBox="1"/>
          <p:nvPr/>
        </p:nvSpPr>
        <p:spPr>
          <a:xfrm>
            <a:off x="9639300" y="5536600"/>
            <a:ext cx="9589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>
                <a:solidFill>
                  <a:srgbClr val="C00000"/>
                </a:solidFill>
              </a:rPr>
              <a:t>Rechtsbündig</a:t>
            </a:r>
            <a:endParaRPr lang="de-CH" sz="1050" dirty="0">
              <a:solidFill>
                <a:srgbClr val="C00000"/>
              </a:solidFill>
            </a:endParaRP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5A4FD054-6701-7AB9-FC01-533FBF0CF8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04923" y="5579135"/>
            <a:ext cx="6943946" cy="5127180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2AC9DB06-B0C6-0B89-615D-640470F488CF}"/>
              </a:ext>
            </a:extLst>
          </p:cNvPr>
          <p:cNvSpPr txBox="1"/>
          <p:nvPr/>
        </p:nvSpPr>
        <p:spPr>
          <a:xfrm>
            <a:off x="8062268" y="28932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soll</a:t>
            </a:r>
            <a:endParaRPr lang="de-CH" dirty="0"/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B8D466BB-3711-2514-4D89-5156FA36D0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06917" y="6415314"/>
            <a:ext cx="38345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16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07B42DE-DC6D-23EE-1B7A-790EC2F8B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07" y="711044"/>
            <a:ext cx="5496692" cy="4563112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54BD4700-96E8-2242-4200-812C1EED9895}"/>
              </a:ext>
            </a:extLst>
          </p:cNvPr>
          <p:cNvSpPr/>
          <p:nvPr/>
        </p:nvSpPr>
        <p:spPr>
          <a:xfrm>
            <a:off x="2718886" y="2598265"/>
            <a:ext cx="379251" cy="394335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940CA07-0BF6-BD5F-20B4-C926D1E94BA0}"/>
              </a:ext>
            </a:extLst>
          </p:cNvPr>
          <p:cNvSpPr/>
          <p:nvPr/>
        </p:nvSpPr>
        <p:spPr>
          <a:xfrm>
            <a:off x="2659892" y="717109"/>
            <a:ext cx="758501" cy="394335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3D90A18-5A59-4E01-C64C-0CA6608A12D7}"/>
              </a:ext>
            </a:extLst>
          </p:cNvPr>
          <p:cNvSpPr/>
          <p:nvPr/>
        </p:nvSpPr>
        <p:spPr>
          <a:xfrm>
            <a:off x="2813230" y="3142551"/>
            <a:ext cx="379251" cy="394335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D3D0625-5CAA-DEC3-3472-361E30CB1318}"/>
              </a:ext>
            </a:extLst>
          </p:cNvPr>
          <p:cNvSpPr/>
          <p:nvPr/>
        </p:nvSpPr>
        <p:spPr>
          <a:xfrm>
            <a:off x="2849518" y="4775407"/>
            <a:ext cx="379251" cy="394335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06E5173-DCE4-E213-909B-E405AA5C4151}"/>
              </a:ext>
            </a:extLst>
          </p:cNvPr>
          <p:cNvSpPr txBox="1"/>
          <p:nvPr/>
        </p:nvSpPr>
        <p:spPr>
          <a:xfrm>
            <a:off x="3769375" y="295453"/>
            <a:ext cx="1527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>
                <a:solidFill>
                  <a:srgbClr val="C00000"/>
                </a:solidFill>
              </a:rPr>
              <a:t>Kompetenzbereich A</a:t>
            </a:r>
            <a:endParaRPr lang="de-CH" sz="1200" b="1" dirty="0">
              <a:solidFill>
                <a:srgbClr val="C00000"/>
              </a:solidFill>
            </a:endParaRP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D59305C-F1B3-3A98-2F1B-F17628B1021B}"/>
              </a:ext>
            </a:extLst>
          </p:cNvPr>
          <p:cNvCxnSpPr/>
          <p:nvPr/>
        </p:nvCxnSpPr>
        <p:spPr>
          <a:xfrm flipH="1">
            <a:off x="3916217" y="542655"/>
            <a:ext cx="175491" cy="27709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63BEFDC0-F607-EBB7-1080-05B626AE9F4C}"/>
              </a:ext>
            </a:extLst>
          </p:cNvPr>
          <p:cNvSpPr txBox="1"/>
          <p:nvPr/>
        </p:nvSpPr>
        <p:spPr>
          <a:xfrm>
            <a:off x="2790655" y="396952"/>
            <a:ext cx="43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i="1" dirty="0">
                <a:solidFill>
                  <a:srgbClr val="C00000"/>
                </a:solidFill>
              </a:rPr>
              <a:t>1.</a:t>
            </a:r>
            <a:endParaRPr lang="de-CH" b="1" i="1" dirty="0">
              <a:solidFill>
                <a:srgbClr val="C00000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B8D2D52-C052-5403-8F4D-051E914440C6}"/>
              </a:ext>
            </a:extLst>
          </p:cNvPr>
          <p:cNvSpPr txBox="1"/>
          <p:nvPr/>
        </p:nvSpPr>
        <p:spPr>
          <a:xfrm>
            <a:off x="3872651" y="0"/>
            <a:ext cx="43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i="1" dirty="0">
                <a:solidFill>
                  <a:srgbClr val="C00000"/>
                </a:solidFill>
              </a:rPr>
              <a:t>2.</a:t>
            </a:r>
            <a:endParaRPr lang="de-CH" b="1" i="1" dirty="0">
              <a:solidFill>
                <a:srgbClr val="C00000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8406DC2-8963-2005-5538-EA3998575D6B}"/>
              </a:ext>
            </a:extLst>
          </p:cNvPr>
          <p:cNvSpPr txBox="1"/>
          <p:nvPr/>
        </p:nvSpPr>
        <p:spPr>
          <a:xfrm>
            <a:off x="2440835" y="2437838"/>
            <a:ext cx="43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i="1" dirty="0">
                <a:solidFill>
                  <a:srgbClr val="C00000"/>
                </a:solidFill>
              </a:rPr>
              <a:t>3.</a:t>
            </a:r>
            <a:endParaRPr lang="de-CH" b="1" i="1" dirty="0">
              <a:solidFill>
                <a:srgbClr val="C00000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BDC90CA-C58D-ABA6-F597-239D1A22A966}"/>
              </a:ext>
            </a:extLst>
          </p:cNvPr>
          <p:cNvSpPr txBox="1"/>
          <p:nvPr/>
        </p:nvSpPr>
        <p:spPr>
          <a:xfrm>
            <a:off x="2460219" y="3142551"/>
            <a:ext cx="43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i="1" dirty="0">
                <a:solidFill>
                  <a:srgbClr val="C00000"/>
                </a:solidFill>
              </a:rPr>
              <a:t>4.</a:t>
            </a:r>
            <a:endParaRPr lang="de-CH" b="1" i="1" dirty="0">
              <a:solidFill>
                <a:srgbClr val="C00000"/>
              </a:solidFill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EBA40688-5A48-C44F-3079-D47537235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8" y="4775407"/>
            <a:ext cx="5499069" cy="530398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D068F21D-585E-C612-12AE-9B7E427076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607" y="542655"/>
            <a:ext cx="6268325" cy="5229955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86EE7A3B-B466-CFB7-BC0B-967C49E14B0E}"/>
              </a:ext>
            </a:extLst>
          </p:cNvPr>
          <p:cNvSpPr/>
          <p:nvPr/>
        </p:nvSpPr>
        <p:spPr>
          <a:xfrm>
            <a:off x="8662486" y="2571539"/>
            <a:ext cx="379251" cy="394335"/>
          </a:xfrm>
          <a:prstGeom prst="rect">
            <a:avLst/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F88E789-E69D-1204-C6C9-1B58FD8D1D04}"/>
              </a:ext>
            </a:extLst>
          </p:cNvPr>
          <p:cNvSpPr txBox="1"/>
          <p:nvPr/>
        </p:nvSpPr>
        <p:spPr>
          <a:xfrm>
            <a:off x="8384435" y="2488638"/>
            <a:ext cx="43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i="1" dirty="0">
                <a:solidFill>
                  <a:srgbClr val="C00000"/>
                </a:solidFill>
              </a:rPr>
              <a:t>1.</a:t>
            </a:r>
            <a:endParaRPr lang="de-CH" b="1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691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735A81F-D831-1545-896E-CE5E2581E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7386" y="-453436"/>
            <a:ext cx="9637486" cy="524133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45F14A0-C877-C262-FB4A-251E2C01A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522" y="-453436"/>
            <a:ext cx="5410955" cy="664937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33C5D0B4-03EB-1EA7-B220-E411A91A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66" t="20019" r="36979" b="29263"/>
          <a:stretch>
            <a:fillRect/>
          </a:stretch>
        </p:blipFill>
        <p:spPr>
          <a:xfrm>
            <a:off x="-882839" y="4534124"/>
            <a:ext cx="6261100" cy="332363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48F2AE1F-E9AE-0914-5BA6-5C606D1788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128" y="8282734"/>
            <a:ext cx="9126224" cy="5801535"/>
          </a:xfrm>
          <a:prstGeom prst="rect">
            <a:avLst/>
          </a:prstGeom>
        </p:spPr>
      </p:pic>
      <p:sp>
        <p:nvSpPr>
          <p:cNvPr id="21" name="Rechteck 20">
            <a:extLst>
              <a:ext uri="{FF2B5EF4-FFF2-40B4-BE49-F238E27FC236}">
                <a16:creationId xmlns:a16="http://schemas.microsoft.com/office/drawing/2014/main" id="{A5A00042-9030-9801-9B87-6D5C8140E859}"/>
              </a:ext>
            </a:extLst>
          </p:cNvPr>
          <p:cNvSpPr/>
          <p:nvPr/>
        </p:nvSpPr>
        <p:spPr>
          <a:xfrm>
            <a:off x="5900468" y="9954884"/>
            <a:ext cx="2811354" cy="4313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t" anchorCtr="0"/>
          <a:lstStyle/>
          <a:p>
            <a:r>
              <a:rPr lang="de-DE" sz="1050" dirty="0">
                <a:solidFill>
                  <a:schemeClr val="bg1">
                    <a:lumMod val="50000"/>
                  </a:schemeClr>
                </a:solidFill>
              </a:rPr>
              <a:t>Kommentar/Notiz…</a:t>
            </a:r>
            <a:endParaRPr lang="de-CH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54E213B-3C1A-5A9D-24D8-9ABEC574FC59}"/>
              </a:ext>
            </a:extLst>
          </p:cNvPr>
          <p:cNvSpPr/>
          <p:nvPr/>
        </p:nvSpPr>
        <p:spPr>
          <a:xfrm>
            <a:off x="5881061" y="9551530"/>
            <a:ext cx="4156073" cy="247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t" anchorCtr="0"/>
          <a:lstStyle/>
          <a:p>
            <a:r>
              <a:rPr lang="de-DE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Kommentar/Notiz…                                                         Kompetenzstufe</a:t>
            </a:r>
            <a:endParaRPr lang="de-CH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459ACE3-8D17-C232-39D5-5223DE869C47}"/>
              </a:ext>
            </a:extLst>
          </p:cNvPr>
          <p:cNvSpPr/>
          <p:nvPr/>
        </p:nvSpPr>
        <p:spPr>
          <a:xfrm>
            <a:off x="5900468" y="10532855"/>
            <a:ext cx="2811354" cy="4313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t" anchorCtr="0"/>
          <a:lstStyle/>
          <a:p>
            <a:r>
              <a:rPr lang="de-DE" sz="1050" dirty="0">
                <a:solidFill>
                  <a:schemeClr val="bg1">
                    <a:lumMod val="50000"/>
                  </a:schemeClr>
                </a:solidFill>
              </a:rPr>
              <a:t>Kommentar/Notiz…</a:t>
            </a:r>
            <a:endParaRPr lang="de-CH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764F147-F0ED-127A-397B-FEBAB720063F}"/>
              </a:ext>
            </a:extLst>
          </p:cNvPr>
          <p:cNvSpPr/>
          <p:nvPr/>
        </p:nvSpPr>
        <p:spPr>
          <a:xfrm>
            <a:off x="5900468" y="11074947"/>
            <a:ext cx="2811354" cy="4313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t" anchorCtr="0"/>
          <a:lstStyle/>
          <a:p>
            <a:r>
              <a:rPr lang="de-DE" sz="1050" dirty="0">
                <a:solidFill>
                  <a:schemeClr val="bg1">
                    <a:lumMod val="50000"/>
                  </a:schemeClr>
                </a:solidFill>
              </a:rPr>
              <a:t>Kommentar/Notiz…</a:t>
            </a:r>
            <a:endParaRPr lang="de-CH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D504089-9120-AD90-E8C9-227771232A5C}"/>
              </a:ext>
            </a:extLst>
          </p:cNvPr>
          <p:cNvSpPr/>
          <p:nvPr/>
        </p:nvSpPr>
        <p:spPr>
          <a:xfrm>
            <a:off x="5900468" y="11617180"/>
            <a:ext cx="2811354" cy="4313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t" anchorCtr="0"/>
          <a:lstStyle/>
          <a:p>
            <a:r>
              <a:rPr lang="de-DE" sz="1050" dirty="0">
                <a:solidFill>
                  <a:schemeClr val="bg1">
                    <a:lumMod val="50000"/>
                  </a:schemeClr>
                </a:solidFill>
              </a:rPr>
              <a:t>Kommentar/Notiz…</a:t>
            </a:r>
            <a:endParaRPr lang="de-CH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57554E2-6757-AAA2-A327-BD32A8189DB0}"/>
              </a:ext>
            </a:extLst>
          </p:cNvPr>
          <p:cNvSpPr/>
          <p:nvPr/>
        </p:nvSpPr>
        <p:spPr>
          <a:xfrm>
            <a:off x="5900468" y="12176251"/>
            <a:ext cx="2811354" cy="4313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t" anchorCtr="0"/>
          <a:lstStyle/>
          <a:p>
            <a:r>
              <a:rPr lang="de-DE" sz="1050" dirty="0">
                <a:solidFill>
                  <a:schemeClr val="bg1">
                    <a:lumMod val="50000"/>
                  </a:schemeClr>
                </a:solidFill>
              </a:rPr>
              <a:t>Kommentar/Notiz…</a:t>
            </a:r>
            <a:endParaRPr lang="de-CH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BD7F232D-ADBA-F53B-06CA-DE5092FAC409}"/>
              </a:ext>
            </a:extLst>
          </p:cNvPr>
          <p:cNvGrpSpPr/>
          <p:nvPr/>
        </p:nvGrpSpPr>
        <p:grpSpPr>
          <a:xfrm>
            <a:off x="8554521" y="10233208"/>
            <a:ext cx="115911" cy="119432"/>
            <a:chOff x="5900468" y="7919824"/>
            <a:chExt cx="115911" cy="11943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0E193E26-5890-21D3-66B7-FAFE35D7F20F}"/>
                </a:ext>
              </a:extLst>
            </p:cNvPr>
            <p:cNvCxnSpPr/>
            <p:nvPr/>
          </p:nvCxnSpPr>
          <p:spPr>
            <a:xfrm flipV="1">
              <a:off x="5900468" y="7919824"/>
              <a:ext cx="115911" cy="11943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2765F080-D7DD-8B79-EC1B-E23DC0CDAA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912" y="7979540"/>
              <a:ext cx="55467" cy="5715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C5B3B88C-9F8B-274A-9ED8-31A0D3B25B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1986" y="3364986"/>
            <a:ext cx="128027" cy="128027"/>
          </a:xfrm>
          <a:prstGeom prst="rect">
            <a:avLst/>
          </a:prstGeom>
        </p:spPr>
      </p:pic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8D668D49-9686-CEF2-2615-DD3E7AE82A9A}"/>
              </a:ext>
            </a:extLst>
          </p:cNvPr>
          <p:cNvGrpSpPr/>
          <p:nvPr/>
        </p:nvGrpSpPr>
        <p:grpSpPr>
          <a:xfrm>
            <a:off x="8554521" y="10802744"/>
            <a:ext cx="115911" cy="119432"/>
            <a:chOff x="5900468" y="7919824"/>
            <a:chExt cx="115911" cy="119432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E3C57042-4243-6889-6CCE-5E401160B4A4}"/>
                </a:ext>
              </a:extLst>
            </p:cNvPr>
            <p:cNvCxnSpPr/>
            <p:nvPr/>
          </p:nvCxnSpPr>
          <p:spPr>
            <a:xfrm flipV="1">
              <a:off x="5900468" y="7919824"/>
              <a:ext cx="115911" cy="11943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EC6A1432-C651-68B8-5DBD-89E7CEC18B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912" y="7979540"/>
              <a:ext cx="55467" cy="5715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BB164A83-B179-3957-9F86-672CEC49BF3C}"/>
              </a:ext>
            </a:extLst>
          </p:cNvPr>
          <p:cNvGrpSpPr/>
          <p:nvPr/>
        </p:nvGrpSpPr>
        <p:grpSpPr>
          <a:xfrm>
            <a:off x="8554521" y="11344586"/>
            <a:ext cx="115911" cy="119432"/>
            <a:chOff x="5900468" y="7919824"/>
            <a:chExt cx="115911" cy="119432"/>
          </a:xfrm>
        </p:grpSpPr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381E1E1E-CDC1-68EC-20A5-BA5E48F46CC1}"/>
                </a:ext>
              </a:extLst>
            </p:cNvPr>
            <p:cNvCxnSpPr/>
            <p:nvPr/>
          </p:nvCxnSpPr>
          <p:spPr>
            <a:xfrm flipV="1">
              <a:off x="5900468" y="7919824"/>
              <a:ext cx="115911" cy="11943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C4FDB94A-1FFA-AA33-C62B-D1B275D46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912" y="7979540"/>
              <a:ext cx="55467" cy="5715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5349058B-E399-7F32-1770-6A4BE56C2754}"/>
              </a:ext>
            </a:extLst>
          </p:cNvPr>
          <p:cNvGrpSpPr/>
          <p:nvPr/>
        </p:nvGrpSpPr>
        <p:grpSpPr>
          <a:xfrm>
            <a:off x="8554521" y="11886428"/>
            <a:ext cx="115911" cy="119432"/>
            <a:chOff x="5900468" y="7919824"/>
            <a:chExt cx="115911" cy="119432"/>
          </a:xfrm>
        </p:grpSpPr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4C85418E-3DFA-3CB3-A942-565C434C029A}"/>
                </a:ext>
              </a:extLst>
            </p:cNvPr>
            <p:cNvCxnSpPr/>
            <p:nvPr/>
          </p:nvCxnSpPr>
          <p:spPr>
            <a:xfrm flipV="1">
              <a:off x="5900468" y="7919824"/>
              <a:ext cx="115911" cy="11943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48628F94-2B93-89CB-B048-FBA4763CB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912" y="7979540"/>
              <a:ext cx="55467" cy="5715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CD0F59C0-5C6C-7D83-0E92-B12C1429C26A}"/>
              </a:ext>
            </a:extLst>
          </p:cNvPr>
          <p:cNvGrpSpPr/>
          <p:nvPr/>
        </p:nvGrpSpPr>
        <p:grpSpPr>
          <a:xfrm>
            <a:off x="8554521" y="12464683"/>
            <a:ext cx="115911" cy="119432"/>
            <a:chOff x="5900468" y="7919824"/>
            <a:chExt cx="115911" cy="119432"/>
          </a:xfrm>
        </p:grpSpPr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F62D5001-A50C-648E-6E71-1458450906DE}"/>
                </a:ext>
              </a:extLst>
            </p:cNvPr>
            <p:cNvCxnSpPr/>
            <p:nvPr/>
          </p:nvCxnSpPr>
          <p:spPr>
            <a:xfrm flipV="1">
              <a:off x="5900468" y="7919824"/>
              <a:ext cx="115911" cy="11943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8F5B397C-4AD7-2B0C-C66B-DAB8B48F4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0912" y="7979540"/>
              <a:ext cx="55467" cy="5715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6" name="Grafik 45">
            <a:extLst>
              <a:ext uri="{FF2B5EF4-FFF2-40B4-BE49-F238E27FC236}">
                <a16:creationId xmlns:a16="http://schemas.microsoft.com/office/drawing/2014/main" id="{801A2B9D-01F4-6E3C-155D-C71B0B0DB2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0" t="13543" r="54460" b="82616"/>
          <a:stretch>
            <a:fillRect/>
          </a:stretch>
        </p:blipFill>
        <p:spPr>
          <a:xfrm>
            <a:off x="1407867" y="9382481"/>
            <a:ext cx="1633584" cy="222837"/>
          </a:xfrm>
          <a:prstGeom prst="rect">
            <a:avLst/>
          </a:prstGeom>
        </p:spPr>
      </p:pic>
      <p:sp>
        <p:nvSpPr>
          <p:cNvPr id="47" name="Rechteck 46">
            <a:extLst>
              <a:ext uri="{FF2B5EF4-FFF2-40B4-BE49-F238E27FC236}">
                <a16:creationId xmlns:a16="http://schemas.microsoft.com/office/drawing/2014/main" id="{C1F2CC39-AC93-F29A-5AA7-DF00F19AE05A}"/>
              </a:ext>
            </a:extLst>
          </p:cNvPr>
          <p:cNvSpPr/>
          <p:nvPr/>
        </p:nvSpPr>
        <p:spPr>
          <a:xfrm>
            <a:off x="3588444" y="9013371"/>
            <a:ext cx="3319502" cy="391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CD3C22D1-D38E-EF18-4C16-73A54B8DDDAA}"/>
              </a:ext>
            </a:extLst>
          </p:cNvPr>
          <p:cNvSpPr/>
          <p:nvPr/>
        </p:nvSpPr>
        <p:spPr>
          <a:xfrm>
            <a:off x="2902586" y="9046277"/>
            <a:ext cx="1598500" cy="247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t" anchorCtr="0"/>
          <a:lstStyle/>
          <a:p>
            <a:r>
              <a:rPr lang="de-DE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Kompetenzen auswählen</a:t>
            </a:r>
            <a:endParaRPr lang="de-CH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09BBC681-867A-3B67-906B-3D5B1921D4B8}"/>
              </a:ext>
            </a:extLst>
          </p:cNvPr>
          <p:cNvSpPr/>
          <p:nvPr/>
        </p:nvSpPr>
        <p:spPr>
          <a:xfrm>
            <a:off x="2609965" y="9009638"/>
            <a:ext cx="1891121" cy="35343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t" anchorCtr="0"/>
          <a:lstStyle/>
          <a:p>
            <a:endParaRPr lang="de-CH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EC89987-48BA-9701-675B-7AA87571E15D}"/>
              </a:ext>
            </a:extLst>
          </p:cNvPr>
          <p:cNvSpPr/>
          <p:nvPr/>
        </p:nvSpPr>
        <p:spPr>
          <a:xfrm>
            <a:off x="4630075" y="9009637"/>
            <a:ext cx="1465925" cy="3534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tlCol="0" anchor="t" anchorCtr="0"/>
          <a:lstStyle/>
          <a:p>
            <a:r>
              <a:rPr lang="de-DE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Bewertung Speichern</a:t>
            </a:r>
            <a:endParaRPr lang="de-CH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5374CBF5-723D-8A0D-B865-4308D04B416A}"/>
              </a:ext>
            </a:extLst>
          </p:cNvPr>
          <p:cNvSpPr/>
          <p:nvPr/>
        </p:nvSpPr>
        <p:spPr>
          <a:xfrm>
            <a:off x="1440333" y="9541164"/>
            <a:ext cx="772114" cy="247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36000" rtlCol="0" anchor="t" anchorCtr="0"/>
          <a:lstStyle/>
          <a:p>
            <a:r>
              <a:rPr lang="de-DE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Leistungsziel</a:t>
            </a:r>
            <a:endParaRPr lang="de-CH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720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BFB53ED-13AC-DD70-E686-EE0DAFF1B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663"/>
          <a:stretch>
            <a:fillRect/>
          </a:stretch>
        </p:blipFill>
        <p:spPr>
          <a:xfrm>
            <a:off x="3354646" y="528320"/>
            <a:ext cx="4909776" cy="366776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7FE12F2-4F7F-2F5A-11B1-E8DD00E1C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337" b="19351"/>
          <a:stretch>
            <a:fillRect/>
          </a:stretch>
        </p:blipFill>
        <p:spPr>
          <a:xfrm>
            <a:off x="3354646" y="4446990"/>
            <a:ext cx="4909776" cy="1234673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FAFAE80-06C3-9C79-DB07-A47E2A8A0251}"/>
              </a:ext>
            </a:extLst>
          </p:cNvPr>
          <p:cNvSpPr/>
          <p:nvPr/>
        </p:nvSpPr>
        <p:spPr>
          <a:xfrm>
            <a:off x="3615069" y="4217344"/>
            <a:ext cx="4458587" cy="247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36000" rtlCol="0" anchor="t" anchorCtr="0"/>
          <a:lstStyle/>
          <a:p>
            <a:r>
              <a:rPr lang="de-DE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Informationen zu ICT-Lösungen und zu Innovationen recherchieren</a:t>
            </a:r>
            <a:endParaRPr lang="de-CH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022A431-030E-1107-6CF2-B6300003D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49"/>
          <a:stretch>
            <a:fillRect/>
          </a:stretch>
        </p:blipFill>
        <p:spPr>
          <a:xfrm>
            <a:off x="3354646" y="5932573"/>
            <a:ext cx="4909776" cy="1127666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238AD6C4-4B23-8CC7-E32A-DAA960D738F6}"/>
              </a:ext>
            </a:extLst>
          </p:cNvPr>
          <p:cNvSpPr/>
          <p:nvPr/>
        </p:nvSpPr>
        <p:spPr>
          <a:xfrm>
            <a:off x="3615069" y="5685139"/>
            <a:ext cx="4458587" cy="247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36000" rtlCol="0" anchor="t" anchorCtr="0"/>
          <a:lstStyle/>
          <a:p>
            <a:r>
              <a:rPr lang="de-DE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ICT-Projekte und daraus entstehende Aufgaben gemäss Vorsorgemodell</a:t>
            </a:r>
            <a:endParaRPr lang="de-CH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2C869DC-DE8F-D52D-DC8B-0A95C0952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178" y="1362488"/>
            <a:ext cx="4913802" cy="652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72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5ED8196-DC03-54C2-598A-7BE8FBBE9C32}"/>
              </a:ext>
            </a:extLst>
          </p:cNvPr>
          <p:cNvGrpSpPr/>
          <p:nvPr/>
        </p:nvGrpSpPr>
        <p:grpSpPr>
          <a:xfrm>
            <a:off x="7231409" y="329254"/>
            <a:ext cx="3802719" cy="2691006"/>
            <a:chOff x="5478024" y="329254"/>
            <a:chExt cx="3802719" cy="2691006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C593B877-DEA9-D6C2-2C67-8C3FE1E2C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1540"/>
            <a:stretch>
              <a:fillRect/>
            </a:stretch>
          </p:blipFill>
          <p:spPr>
            <a:xfrm>
              <a:off x="5490724" y="335605"/>
              <a:ext cx="3790019" cy="1924995"/>
            </a:xfrm>
            <a:prstGeom prst="rect">
              <a:avLst/>
            </a:prstGeom>
          </p:spPr>
        </p:pic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F1DA7A50-F921-F1A9-74C0-ABB8031D5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473"/>
            <a:stretch>
              <a:fillRect/>
            </a:stretch>
          </p:blipFill>
          <p:spPr>
            <a:xfrm>
              <a:off x="5490724" y="2540000"/>
              <a:ext cx="3790019" cy="313717"/>
            </a:xfrm>
            <a:prstGeom prst="rect">
              <a:avLst/>
            </a:prstGeom>
          </p:spPr>
        </p:pic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A5C53DC0-65AB-DC6F-E92F-3238AAC6F79F}"/>
                </a:ext>
              </a:extLst>
            </p:cNvPr>
            <p:cNvSpPr/>
            <p:nvPr/>
          </p:nvSpPr>
          <p:spPr>
            <a:xfrm>
              <a:off x="5478024" y="329254"/>
              <a:ext cx="3790019" cy="2691006"/>
            </a:xfrm>
            <a:prstGeom prst="rect">
              <a:avLst/>
            </a:prstGeom>
            <a:noFill/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</p:grpSp>
      <p:sp>
        <p:nvSpPr>
          <p:cNvPr id="14" name="Textfeld 13">
            <a:extLst>
              <a:ext uri="{FF2B5EF4-FFF2-40B4-BE49-F238E27FC236}">
                <a16:creationId xmlns:a16="http://schemas.microsoft.com/office/drawing/2014/main" id="{B69B948B-13C3-F185-D684-3342A2CF6208}"/>
              </a:ext>
            </a:extLst>
          </p:cNvPr>
          <p:cNvSpPr txBox="1"/>
          <p:nvPr/>
        </p:nvSpPr>
        <p:spPr>
          <a:xfrm>
            <a:off x="7306814" y="1419416"/>
            <a:ext cx="664015" cy="9233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bIns="0" rtlCol="0">
            <a:spAutoFit/>
          </a:bodyPr>
          <a:lstStyle/>
          <a:p>
            <a:r>
              <a:rPr lang="de-DE" sz="600" b="1" dirty="0">
                <a:solidFill>
                  <a:srgbClr val="6E6E6E"/>
                </a:solidFill>
              </a:rPr>
              <a:t>Untertitel </a:t>
            </a:r>
            <a:endParaRPr lang="de-CH" sz="600" b="1" dirty="0">
              <a:solidFill>
                <a:srgbClr val="6E6E6E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8EA79DA-4ACB-846B-8CAE-8DC43D400DC9}"/>
              </a:ext>
            </a:extLst>
          </p:cNvPr>
          <p:cNvSpPr txBox="1"/>
          <p:nvPr/>
        </p:nvSpPr>
        <p:spPr>
          <a:xfrm>
            <a:off x="7373489" y="1573217"/>
            <a:ext cx="2799996" cy="9233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bIns="0" rtlCol="0">
            <a:spAutoFit/>
          </a:bodyPr>
          <a:lstStyle/>
          <a:p>
            <a:r>
              <a:rPr lang="de-DE" sz="600" dirty="0">
                <a:solidFill>
                  <a:srgbClr val="6E6E6E"/>
                </a:solidFill>
              </a:rPr>
              <a:t>Zusatztext für zweite Zeile </a:t>
            </a:r>
            <a:endParaRPr lang="de-CH" sz="600" dirty="0">
              <a:solidFill>
                <a:srgbClr val="6E6E6E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7ACC469-3F1E-CAFF-31B8-CA29AFADDC4E}"/>
              </a:ext>
            </a:extLst>
          </p:cNvPr>
          <p:cNvSpPr/>
          <p:nvPr/>
        </p:nvSpPr>
        <p:spPr>
          <a:xfrm>
            <a:off x="7092152" y="1354143"/>
            <a:ext cx="1300158" cy="43814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61AF3E4D-6AEC-82BD-A0EE-49257C2AA8EB}"/>
              </a:ext>
            </a:extLst>
          </p:cNvPr>
          <p:cNvGrpSpPr/>
          <p:nvPr/>
        </p:nvGrpSpPr>
        <p:grpSpPr>
          <a:xfrm>
            <a:off x="7231408" y="3436938"/>
            <a:ext cx="3790020" cy="2942502"/>
            <a:chOff x="7231408" y="2789600"/>
            <a:chExt cx="3790020" cy="2942502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9F752EC2-320F-117E-A75F-7BA3AA073F2F}"/>
                </a:ext>
              </a:extLst>
            </p:cNvPr>
            <p:cNvGrpSpPr/>
            <p:nvPr/>
          </p:nvGrpSpPr>
          <p:grpSpPr>
            <a:xfrm>
              <a:off x="7231408" y="2789600"/>
              <a:ext cx="3790020" cy="2942502"/>
              <a:chOff x="5620103" y="3411345"/>
              <a:chExt cx="3790020" cy="2942502"/>
            </a:xfrm>
          </p:grpSpPr>
          <p:pic>
            <p:nvPicPr>
              <p:cNvPr id="11" name="Grafik 10">
                <a:extLst>
                  <a:ext uri="{FF2B5EF4-FFF2-40B4-BE49-F238E27FC236}">
                    <a16:creationId xmlns:a16="http://schemas.microsoft.com/office/drawing/2014/main" id="{F7C6415D-7DAF-C7C5-57D8-0968E2C2E6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8277"/>
              <a:stretch>
                <a:fillRect/>
              </a:stretch>
            </p:blipFill>
            <p:spPr>
              <a:xfrm>
                <a:off x="5620104" y="3411345"/>
                <a:ext cx="3790019" cy="2691006"/>
              </a:xfrm>
              <a:prstGeom prst="rect">
                <a:avLst/>
              </a:prstGeom>
            </p:spPr>
          </p:pic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C9D29DA-17ED-488B-F6F7-7F9C6C7CADCE}"/>
                  </a:ext>
                </a:extLst>
              </p:cNvPr>
              <p:cNvSpPr txBox="1"/>
              <p:nvPr/>
            </p:nvSpPr>
            <p:spPr>
              <a:xfrm>
                <a:off x="5672079" y="3473652"/>
                <a:ext cx="3410962" cy="15388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36000" tIns="0" bIns="0" rtlCol="0">
                <a:spAutoFit/>
              </a:bodyPr>
              <a:lstStyle/>
              <a:p>
                <a:r>
                  <a:rPr lang="de-DE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Leistungsziele zur Bewertung auswählen </a:t>
                </a:r>
                <a:endParaRPr lang="de-CH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pic>
            <p:nvPicPr>
              <p:cNvPr id="18" name="Grafik 17">
                <a:extLst>
                  <a:ext uri="{FF2B5EF4-FFF2-40B4-BE49-F238E27FC236}">
                    <a16:creationId xmlns:a16="http://schemas.microsoft.com/office/drawing/2014/main" id="{74D5B188-FAA2-562A-639A-73732558F2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277"/>
              <a:stretch>
                <a:fillRect/>
              </a:stretch>
            </p:blipFill>
            <p:spPr>
              <a:xfrm>
                <a:off x="5620104" y="3761652"/>
                <a:ext cx="3790019" cy="2592195"/>
              </a:xfrm>
              <a:prstGeom prst="rect">
                <a:avLst/>
              </a:prstGeom>
            </p:spPr>
          </p:pic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C5FB6F46-5A60-8937-3DF4-E4270C85039D}"/>
                  </a:ext>
                </a:extLst>
              </p:cNvPr>
              <p:cNvSpPr txBox="1"/>
              <p:nvPr/>
            </p:nvSpPr>
            <p:spPr>
              <a:xfrm>
                <a:off x="5747323" y="3948350"/>
                <a:ext cx="1308321" cy="923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36000" tIns="0" bIns="0" rtlCol="0">
                <a:spAutoFit/>
              </a:bodyPr>
              <a:lstStyle/>
              <a:p>
                <a:r>
                  <a:rPr lang="de-DE" sz="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Bipl_88611_d </a:t>
                </a:r>
                <a:endParaRPr lang="de-CH" sz="6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384FCB7D-3598-2ED2-1529-3283B0A93CBE}"/>
                  </a:ext>
                </a:extLst>
              </p:cNvPr>
              <p:cNvSpPr txBox="1"/>
              <p:nvPr/>
            </p:nvSpPr>
            <p:spPr>
              <a:xfrm>
                <a:off x="5737797" y="4308184"/>
                <a:ext cx="1682177" cy="923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36000" tIns="0" bIns="0" rtlCol="0">
                <a:spAutoFit/>
              </a:bodyPr>
              <a:lstStyle/>
              <a:p>
                <a:r>
                  <a:rPr lang="de-DE" sz="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Das ist die Beschreibung zum Bildungsplan</a:t>
                </a:r>
                <a:endParaRPr lang="de-CH" sz="600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731D357-94AF-C113-82C7-DD69F08FC4C3}"/>
                  </a:ext>
                </a:extLst>
              </p:cNvPr>
              <p:cNvSpPr/>
              <p:nvPr/>
            </p:nvSpPr>
            <p:spPr>
              <a:xfrm>
                <a:off x="5620103" y="3428999"/>
                <a:ext cx="3790019" cy="2924847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/>
              </a:p>
            </p:txBody>
          </p:sp>
        </p:grpSp>
        <p:pic>
          <p:nvPicPr>
            <p:cNvPr id="31" name="Grafik 30">
              <a:extLst>
                <a:ext uri="{FF2B5EF4-FFF2-40B4-BE49-F238E27FC236}">
                  <a16:creationId xmlns:a16="http://schemas.microsoft.com/office/drawing/2014/main" id="{A1ED1BE7-2AC2-04EF-74F1-7DDB6F540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99793" y="5424488"/>
              <a:ext cx="1180932" cy="268604"/>
            </a:xfrm>
            <a:prstGeom prst="rect">
              <a:avLst/>
            </a:prstGeom>
          </p:spPr>
        </p:pic>
      </p:grpSp>
      <p:pic>
        <p:nvPicPr>
          <p:cNvPr id="34" name="Grafik 33">
            <a:extLst>
              <a:ext uri="{FF2B5EF4-FFF2-40B4-BE49-F238E27FC236}">
                <a16:creationId xmlns:a16="http://schemas.microsoft.com/office/drawing/2014/main" id="{B2EB72EF-76A3-17D0-2E7E-10374ACB4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5"/>
          <a:stretch>
            <a:fillRect/>
          </a:stretch>
        </p:blipFill>
        <p:spPr>
          <a:xfrm>
            <a:off x="320743" y="209110"/>
            <a:ext cx="5415106" cy="4648640"/>
          </a:xfrm>
          <a:prstGeom prst="rect">
            <a:avLst/>
          </a:prstGeom>
        </p:spPr>
      </p:pic>
      <p:sp>
        <p:nvSpPr>
          <p:cNvPr id="36" name="Rechteck 35">
            <a:extLst>
              <a:ext uri="{FF2B5EF4-FFF2-40B4-BE49-F238E27FC236}">
                <a16:creationId xmlns:a16="http://schemas.microsoft.com/office/drawing/2014/main" id="{87155A53-14A3-DB43-FE41-5B0873240B18}"/>
              </a:ext>
            </a:extLst>
          </p:cNvPr>
          <p:cNvSpPr/>
          <p:nvPr/>
        </p:nvSpPr>
        <p:spPr>
          <a:xfrm>
            <a:off x="463550" y="1573217"/>
            <a:ext cx="5213350" cy="3125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BE6F522-C71B-92B7-B7D4-72E020FFCEFF}"/>
              </a:ext>
            </a:extLst>
          </p:cNvPr>
          <p:cNvSpPr/>
          <p:nvPr/>
        </p:nvSpPr>
        <p:spPr>
          <a:xfrm>
            <a:off x="1157872" y="1278255"/>
            <a:ext cx="3820528" cy="287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dirty="0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FC9FAF31-CE0B-BC42-FE60-AE650D1AF70C}"/>
              </a:ext>
            </a:extLst>
          </p:cNvPr>
          <p:cNvSpPr txBox="1"/>
          <p:nvPr/>
        </p:nvSpPr>
        <p:spPr>
          <a:xfrm>
            <a:off x="551842" y="1638490"/>
            <a:ext cx="819758" cy="9233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bIns="0" rtlCol="0">
            <a:spAutoFit/>
          </a:bodyPr>
          <a:lstStyle/>
          <a:p>
            <a:r>
              <a:rPr lang="de-DE" sz="600" b="1" dirty="0">
                <a:solidFill>
                  <a:srgbClr val="6E6E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Kurzbeschreibung </a:t>
            </a:r>
            <a:endParaRPr lang="de-CH" sz="600" b="1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1BF4BB7-92F3-44E9-A464-1E97BB67ADE1}"/>
              </a:ext>
            </a:extLst>
          </p:cNvPr>
          <p:cNvSpPr txBox="1"/>
          <p:nvPr/>
        </p:nvSpPr>
        <p:spPr>
          <a:xfrm>
            <a:off x="589938" y="1758950"/>
            <a:ext cx="4996471" cy="64633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36000" tIns="36000" bIns="0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6E6E6E"/>
                </a:solidFill>
              </a:defRPr>
            </a:lvl1pPr>
          </a:lstStyle>
          <a:p>
            <a:r>
              <a:rPr lang="de-DE" dirty="0">
                <a:latin typeface="Inter" panose="02000503000000020004" pitchFamily="2" charset="0"/>
                <a:ea typeface="Inter" panose="02000503000000020004" pitchFamily="2" charset="0"/>
              </a:rPr>
              <a:t>Beschreibung des Inhalts in 4/5  Sätzen. Was deckt es ab (Problemstellung, Funktion, Ergebnis)</a:t>
            </a: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endParaRPr lang="de-CH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C0558F77-A344-6387-6F37-6C26E54092F7}"/>
              </a:ext>
            </a:extLst>
          </p:cNvPr>
          <p:cNvSpPr txBox="1"/>
          <p:nvPr/>
        </p:nvSpPr>
        <p:spPr>
          <a:xfrm>
            <a:off x="551842" y="2538784"/>
            <a:ext cx="2286608" cy="9233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bIns="0" rtlCol="0">
            <a:spAutoFit/>
          </a:bodyPr>
          <a:lstStyle/>
          <a:p>
            <a:r>
              <a:rPr lang="de-DE" sz="600" b="1" dirty="0">
                <a:solidFill>
                  <a:srgbClr val="6E6E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Umsetzung der Arbeit </a:t>
            </a:r>
            <a:endParaRPr lang="de-CH" sz="600" b="1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696E4421-E926-2E26-D982-B11276DB9B4F}"/>
              </a:ext>
            </a:extLst>
          </p:cNvPr>
          <p:cNvSpPr txBox="1"/>
          <p:nvPr/>
        </p:nvSpPr>
        <p:spPr>
          <a:xfrm>
            <a:off x="589938" y="2659244"/>
            <a:ext cx="4996471" cy="68268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36000" tIns="36000" bIns="0" rtlCol="0">
            <a:spAutoFit/>
          </a:bodyPr>
          <a:lstStyle/>
          <a:p>
            <a:r>
              <a:rPr lang="de-DE" sz="600" dirty="0">
                <a:solidFill>
                  <a:srgbClr val="6E6E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Wie wurde die Problemstellung gelöst, wie ist das Vorgehen und die Dokumentation. </a:t>
            </a:r>
          </a:p>
          <a:p>
            <a:endParaRPr lang="de-DE" sz="600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600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600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600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sz="600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sz="600" dirty="0">
                <a:solidFill>
                  <a:srgbClr val="6E6E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endParaRPr lang="de-CH" sz="600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15656D9D-E166-49E0-2D97-24BC16A49056}"/>
              </a:ext>
            </a:extLst>
          </p:cNvPr>
          <p:cNvSpPr txBox="1"/>
          <p:nvPr/>
        </p:nvSpPr>
        <p:spPr>
          <a:xfrm>
            <a:off x="551841" y="3517763"/>
            <a:ext cx="1978633" cy="9233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bIns="0" rtlCol="0">
            <a:spAutoFit/>
          </a:bodyPr>
          <a:lstStyle/>
          <a:p>
            <a:r>
              <a:rPr lang="de-DE" sz="600" b="1" dirty="0">
                <a:solidFill>
                  <a:srgbClr val="6E6E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Lücken und Verbesserungsmöglichkeiten</a:t>
            </a:r>
            <a:endParaRPr lang="de-CH" sz="600" b="1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97C5BBBC-A9D0-3B76-F0F9-63ECEDAC504B}"/>
              </a:ext>
            </a:extLst>
          </p:cNvPr>
          <p:cNvSpPr txBox="1"/>
          <p:nvPr/>
        </p:nvSpPr>
        <p:spPr>
          <a:xfrm>
            <a:off x="589938" y="3625523"/>
            <a:ext cx="4996471" cy="68268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 lIns="36000" tIns="36000" bIns="0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6E6E6E"/>
                </a:solidFill>
              </a:defRPr>
            </a:lvl1pPr>
          </a:lstStyle>
          <a:p>
            <a:r>
              <a:rPr lang="de-DE" dirty="0">
                <a:latin typeface="Inter" panose="02000503000000020004" pitchFamily="2" charset="0"/>
                <a:ea typeface="Inter" panose="02000503000000020004" pitchFamily="2" charset="0"/>
              </a:rPr>
              <a:t>Was könnte bei der nächsten Arbeit dieser Art berücksichtigt werden. </a:t>
            </a: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endParaRPr lang="de-DE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de-DE" dirty="0"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endParaRPr lang="de-CH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23A24772-4A3F-2DC0-6233-B6D3BF195820}"/>
              </a:ext>
            </a:extLst>
          </p:cNvPr>
          <p:cNvSpPr/>
          <p:nvPr/>
        </p:nvSpPr>
        <p:spPr>
          <a:xfrm>
            <a:off x="1185863" y="1298102"/>
            <a:ext cx="897355" cy="20247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0" rtlCol="0" anchor="ctr"/>
          <a:lstStyle/>
          <a:p>
            <a:r>
              <a:rPr lang="de-DE" sz="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Leistungsziele zur </a:t>
            </a:r>
          </a:p>
          <a:p>
            <a:r>
              <a:rPr lang="de-DE" sz="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Bewertung ändern </a:t>
            </a:r>
            <a:endParaRPr lang="de-CH" sz="500" b="1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A4BC5705-216D-A5E5-978B-5EA680B902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14" y="1338734"/>
            <a:ext cx="114996" cy="118534"/>
          </a:xfrm>
          <a:prstGeom prst="rect">
            <a:avLst/>
          </a:prstGeom>
        </p:spPr>
      </p:pic>
      <p:sp>
        <p:nvSpPr>
          <p:cNvPr id="50" name="Rechteck 49">
            <a:extLst>
              <a:ext uri="{FF2B5EF4-FFF2-40B4-BE49-F238E27FC236}">
                <a16:creationId xmlns:a16="http://schemas.microsoft.com/office/drawing/2014/main" id="{2BCB6B29-06C1-A0EC-69CF-5EE2CE329521}"/>
              </a:ext>
            </a:extLst>
          </p:cNvPr>
          <p:cNvSpPr/>
          <p:nvPr/>
        </p:nvSpPr>
        <p:spPr>
          <a:xfrm>
            <a:off x="4459662" y="1298102"/>
            <a:ext cx="581443" cy="202479"/>
          </a:xfrm>
          <a:prstGeom prst="rect">
            <a:avLst/>
          </a:prstGeom>
          <a:solidFill>
            <a:srgbClr val="FDE70E"/>
          </a:solidFill>
          <a:ln w="6350">
            <a:solidFill>
              <a:srgbClr val="FDE7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DE" sz="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Bewertung</a:t>
            </a:r>
            <a:br>
              <a:rPr lang="de-DE" sz="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</a:br>
            <a:r>
              <a:rPr lang="de-DE" sz="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Speichern</a:t>
            </a:r>
            <a:endParaRPr lang="de-CH" sz="500" b="1" dirty="0">
              <a:solidFill>
                <a:schemeClr val="tx1">
                  <a:lumMod val="75000"/>
                  <a:lumOff val="2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3FC030E-E1F8-83AB-166D-1A46975DCEA0}"/>
              </a:ext>
            </a:extLst>
          </p:cNvPr>
          <p:cNvSpPr txBox="1"/>
          <p:nvPr/>
        </p:nvSpPr>
        <p:spPr>
          <a:xfrm>
            <a:off x="7349102" y="2256548"/>
            <a:ext cx="1128148" cy="9233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bIns="0" rtlCol="0">
            <a:spAutoFit/>
          </a:bodyPr>
          <a:lstStyle/>
          <a:p>
            <a:r>
              <a:rPr lang="de-DE" sz="600" b="1" dirty="0">
                <a:solidFill>
                  <a:srgbClr val="6E6E6E"/>
                </a:solidFill>
              </a:rPr>
              <a:t>Art der ersten Bewertung </a:t>
            </a:r>
            <a:endParaRPr lang="de-CH" sz="600" b="1" dirty="0">
              <a:solidFill>
                <a:srgbClr val="6E6E6E"/>
              </a:solidFill>
            </a:endParaRPr>
          </a:p>
        </p:txBody>
      </p:sp>
      <p:pic>
        <p:nvPicPr>
          <p:cNvPr id="59" name="Grafik 58">
            <a:extLst>
              <a:ext uri="{FF2B5EF4-FFF2-40B4-BE49-F238E27FC236}">
                <a16:creationId xmlns:a16="http://schemas.microsoft.com/office/drawing/2014/main" id="{1CA9BDEE-A893-1EC0-6F4A-39A38378B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" t="50248" r="916" b="43487"/>
          <a:stretch>
            <a:fillRect/>
          </a:stretch>
        </p:blipFill>
        <p:spPr>
          <a:xfrm>
            <a:off x="7285894" y="2351841"/>
            <a:ext cx="3706447" cy="206283"/>
          </a:xfrm>
          <a:prstGeom prst="rect">
            <a:avLst/>
          </a:prstGeom>
        </p:spPr>
      </p:pic>
      <p:sp>
        <p:nvSpPr>
          <p:cNvPr id="54" name="Textfeld 53">
            <a:extLst>
              <a:ext uri="{FF2B5EF4-FFF2-40B4-BE49-F238E27FC236}">
                <a16:creationId xmlns:a16="http://schemas.microsoft.com/office/drawing/2014/main" id="{84D4EEE8-79F2-E42A-0D4E-045DCE312079}"/>
              </a:ext>
            </a:extLst>
          </p:cNvPr>
          <p:cNvSpPr txBox="1"/>
          <p:nvPr/>
        </p:nvSpPr>
        <p:spPr>
          <a:xfrm>
            <a:off x="7374565" y="2392576"/>
            <a:ext cx="1300159" cy="12227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lIns="36000" t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600" dirty="0">
                <a:solidFill>
                  <a:srgbClr val="6E6E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Manuelle Bewertung </a:t>
            </a:r>
            <a:endParaRPr lang="de-CH" sz="600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20D35C49-61F6-D2FF-0FDD-008B226E7BA6}"/>
              </a:ext>
            </a:extLst>
          </p:cNvPr>
          <p:cNvSpPr txBox="1"/>
          <p:nvPr/>
        </p:nvSpPr>
        <p:spPr>
          <a:xfrm>
            <a:off x="7374565" y="2546387"/>
            <a:ext cx="1300159" cy="12227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txBody>
          <a:bodyPr wrap="square" lIns="36000" t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600" dirty="0">
                <a:solidFill>
                  <a:srgbClr val="6E6E6E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Initialbewertung durch AI </a:t>
            </a:r>
            <a:endParaRPr lang="de-CH" sz="600" dirty="0">
              <a:solidFill>
                <a:srgbClr val="6E6E6E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C3143EC2-2315-06D6-3366-F6E455FF698A}"/>
              </a:ext>
            </a:extLst>
          </p:cNvPr>
          <p:cNvSpPr/>
          <p:nvPr/>
        </p:nvSpPr>
        <p:spPr>
          <a:xfrm>
            <a:off x="7342752" y="2527300"/>
            <a:ext cx="3608617" cy="135625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24" name="Ellipse 1023">
            <a:extLst>
              <a:ext uri="{FF2B5EF4-FFF2-40B4-BE49-F238E27FC236}">
                <a16:creationId xmlns:a16="http://schemas.microsoft.com/office/drawing/2014/main" id="{FD67E746-0A12-3BEE-9901-672D7338921F}"/>
              </a:ext>
            </a:extLst>
          </p:cNvPr>
          <p:cNvSpPr/>
          <p:nvPr/>
        </p:nvSpPr>
        <p:spPr>
          <a:xfrm>
            <a:off x="7019222" y="2198706"/>
            <a:ext cx="1568518" cy="66584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pic>
        <p:nvPicPr>
          <p:cNvPr id="1027" name="Grafik 1026">
            <a:extLst>
              <a:ext uri="{FF2B5EF4-FFF2-40B4-BE49-F238E27FC236}">
                <a16:creationId xmlns:a16="http://schemas.microsoft.com/office/drawing/2014/main" id="{D2881993-8F5F-C921-0D6E-94FCC1AE9F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32" y="4512508"/>
            <a:ext cx="5379043" cy="3971347"/>
          </a:xfrm>
          <a:prstGeom prst="rect">
            <a:avLst/>
          </a:prstGeom>
        </p:spPr>
      </p:pic>
      <p:pic>
        <p:nvPicPr>
          <p:cNvPr id="1029" name="Grafik 1028">
            <a:extLst>
              <a:ext uri="{FF2B5EF4-FFF2-40B4-BE49-F238E27FC236}">
                <a16:creationId xmlns:a16="http://schemas.microsoft.com/office/drawing/2014/main" id="{C6B6B16F-FF47-3415-4E19-3355C7816C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488" y="5105631"/>
            <a:ext cx="3636000" cy="921566"/>
          </a:xfrm>
          <a:prstGeom prst="rect">
            <a:avLst/>
          </a:prstGeom>
        </p:spPr>
      </p:pic>
      <p:sp>
        <p:nvSpPr>
          <p:cNvPr id="1030" name="Textfeld 1029">
            <a:extLst>
              <a:ext uri="{FF2B5EF4-FFF2-40B4-BE49-F238E27FC236}">
                <a16:creationId xmlns:a16="http://schemas.microsoft.com/office/drawing/2014/main" id="{CB4A9748-3F1C-7912-3C93-46E04AD66B9F}"/>
              </a:ext>
            </a:extLst>
          </p:cNvPr>
          <p:cNvSpPr txBox="1"/>
          <p:nvPr/>
        </p:nvSpPr>
        <p:spPr>
          <a:xfrm>
            <a:off x="7306814" y="4169625"/>
            <a:ext cx="664015" cy="92333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bIns="0" rtlCol="0">
            <a:spAutoFit/>
          </a:bodyPr>
          <a:lstStyle/>
          <a:p>
            <a:r>
              <a:rPr lang="de-DE" sz="600" b="1" dirty="0">
                <a:solidFill>
                  <a:srgbClr val="6E6E6E"/>
                </a:solidFill>
              </a:rPr>
              <a:t>Untertitel </a:t>
            </a:r>
            <a:endParaRPr lang="de-CH" sz="600" b="1" dirty="0">
              <a:solidFill>
                <a:srgbClr val="6E6E6E"/>
              </a:solidFill>
            </a:endParaRPr>
          </a:p>
        </p:txBody>
      </p:sp>
      <p:sp>
        <p:nvSpPr>
          <p:cNvPr id="1036" name="Freihandform: Form 1035">
            <a:extLst>
              <a:ext uri="{FF2B5EF4-FFF2-40B4-BE49-F238E27FC236}">
                <a16:creationId xmlns:a16="http://schemas.microsoft.com/office/drawing/2014/main" id="{BDA5FB5C-74A5-ECC0-F1C3-D2B6EB5AF012}"/>
              </a:ext>
            </a:extLst>
          </p:cNvPr>
          <p:cNvSpPr/>
          <p:nvPr/>
        </p:nvSpPr>
        <p:spPr>
          <a:xfrm>
            <a:off x="5676900" y="311085"/>
            <a:ext cx="1487471" cy="604597"/>
          </a:xfrm>
          <a:custGeom>
            <a:avLst/>
            <a:gdLst>
              <a:gd name="csX0" fmla="*/ 0 w 1366886"/>
              <a:gd name="csY0" fmla="*/ 0 h 604597"/>
              <a:gd name="csX1" fmla="*/ 367645 w 1366886"/>
              <a:gd name="csY1" fmla="*/ 169682 h 604597"/>
              <a:gd name="csX2" fmla="*/ 829558 w 1366886"/>
              <a:gd name="csY2" fmla="*/ 537327 h 604597"/>
              <a:gd name="csX3" fmla="*/ 1366886 w 1366886"/>
              <a:gd name="csY3" fmla="*/ 603315 h 6045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6886" h="604597">
                <a:moveTo>
                  <a:pt x="0" y="0"/>
                </a:moveTo>
                <a:cubicBezTo>
                  <a:pt x="114692" y="40064"/>
                  <a:pt x="229385" y="80128"/>
                  <a:pt x="367645" y="169682"/>
                </a:cubicBezTo>
                <a:cubicBezTo>
                  <a:pt x="505905" y="259236"/>
                  <a:pt x="663018" y="465055"/>
                  <a:pt x="829558" y="537327"/>
                </a:cubicBezTo>
                <a:cubicBezTo>
                  <a:pt x="996098" y="609599"/>
                  <a:pt x="1181492" y="606457"/>
                  <a:pt x="1366886" y="603315"/>
                </a:cubicBezTo>
              </a:path>
            </a:pathLst>
          </a:custGeom>
          <a:noFill/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37" name="Freihandform: Form 1036">
            <a:extLst>
              <a:ext uri="{FF2B5EF4-FFF2-40B4-BE49-F238E27FC236}">
                <a16:creationId xmlns:a16="http://schemas.microsoft.com/office/drawing/2014/main" id="{10918A7A-FE91-827F-4120-E5FA6CF5B4D3}"/>
              </a:ext>
            </a:extLst>
          </p:cNvPr>
          <p:cNvSpPr/>
          <p:nvPr/>
        </p:nvSpPr>
        <p:spPr>
          <a:xfrm rot="1098473">
            <a:off x="1783393" y="2254111"/>
            <a:ext cx="5598680" cy="604597"/>
          </a:xfrm>
          <a:custGeom>
            <a:avLst/>
            <a:gdLst>
              <a:gd name="csX0" fmla="*/ 0 w 1366886"/>
              <a:gd name="csY0" fmla="*/ 0 h 604597"/>
              <a:gd name="csX1" fmla="*/ 367645 w 1366886"/>
              <a:gd name="csY1" fmla="*/ 169682 h 604597"/>
              <a:gd name="csX2" fmla="*/ 829558 w 1366886"/>
              <a:gd name="csY2" fmla="*/ 537327 h 604597"/>
              <a:gd name="csX3" fmla="*/ 1366886 w 1366886"/>
              <a:gd name="csY3" fmla="*/ 603315 h 6045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66886" h="604597">
                <a:moveTo>
                  <a:pt x="0" y="0"/>
                </a:moveTo>
                <a:cubicBezTo>
                  <a:pt x="114692" y="40064"/>
                  <a:pt x="229385" y="80128"/>
                  <a:pt x="367645" y="169682"/>
                </a:cubicBezTo>
                <a:cubicBezTo>
                  <a:pt x="505905" y="259236"/>
                  <a:pt x="663018" y="465055"/>
                  <a:pt x="829558" y="537327"/>
                </a:cubicBezTo>
                <a:cubicBezTo>
                  <a:pt x="996098" y="609599"/>
                  <a:pt x="1181492" y="606457"/>
                  <a:pt x="1366886" y="603315"/>
                </a:cubicBezTo>
              </a:path>
            </a:pathLst>
          </a:custGeom>
          <a:noFill/>
          <a:ln w="1905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38" name="Textfeld 1037">
            <a:extLst>
              <a:ext uri="{FF2B5EF4-FFF2-40B4-BE49-F238E27FC236}">
                <a16:creationId xmlns:a16="http://schemas.microsoft.com/office/drawing/2014/main" id="{C1B7D6D9-A8B1-FC95-3F17-E256E7D706D4}"/>
              </a:ext>
            </a:extLst>
          </p:cNvPr>
          <p:cNvSpPr txBox="1"/>
          <p:nvPr/>
        </p:nvSpPr>
        <p:spPr>
          <a:xfrm>
            <a:off x="1401120" y="951806"/>
            <a:ext cx="355423" cy="92333"/>
          </a:xfrm>
          <a:prstGeom prst="rect">
            <a:avLst/>
          </a:prstGeom>
          <a:noFill/>
        </p:spPr>
        <p:txBody>
          <a:bodyPr wrap="square" lIns="36000" tIns="0" bIns="0" rtlCol="0">
            <a:spAutoFit/>
          </a:bodyPr>
          <a:lstStyle/>
          <a:p>
            <a:r>
              <a:rPr lang="de-DE" sz="600" dirty="0">
                <a:solidFill>
                  <a:srgbClr val="C00000"/>
                </a:solidFill>
              </a:rPr>
              <a:t>[Titel]</a:t>
            </a:r>
            <a:endParaRPr lang="de-CH" sz="600" dirty="0">
              <a:solidFill>
                <a:srgbClr val="C00000"/>
              </a:solidFill>
            </a:endParaRPr>
          </a:p>
        </p:txBody>
      </p:sp>
      <p:sp>
        <p:nvSpPr>
          <p:cNvPr id="1039" name="Textfeld 1038">
            <a:extLst>
              <a:ext uri="{FF2B5EF4-FFF2-40B4-BE49-F238E27FC236}">
                <a16:creationId xmlns:a16="http://schemas.microsoft.com/office/drawing/2014/main" id="{4550BF52-606A-7F0E-285A-BBC3C8045352}"/>
              </a:ext>
            </a:extLst>
          </p:cNvPr>
          <p:cNvSpPr txBox="1"/>
          <p:nvPr/>
        </p:nvSpPr>
        <p:spPr>
          <a:xfrm>
            <a:off x="2015483" y="1073338"/>
            <a:ext cx="514991" cy="92333"/>
          </a:xfrm>
          <a:prstGeom prst="rect">
            <a:avLst/>
          </a:prstGeom>
          <a:noFill/>
        </p:spPr>
        <p:txBody>
          <a:bodyPr wrap="square" lIns="36000" tIns="0" bIns="0" rtlCol="0">
            <a:spAutoFit/>
          </a:bodyPr>
          <a:lstStyle/>
          <a:p>
            <a:r>
              <a:rPr lang="de-DE" sz="600" dirty="0">
                <a:solidFill>
                  <a:srgbClr val="C00000"/>
                </a:solidFill>
              </a:rPr>
              <a:t>[Untertitel]</a:t>
            </a:r>
            <a:endParaRPr lang="de-CH" sz="600" dirty="0">
              <a:solidFill>
                <a:srgbClr val="C00000"/>
              </a:solidFill>
            </a:endParaRPr>
          </a:p>
        </p:txBody>
      </p:sp>
      <p:pic>
        <p:nvPicPr>
          <p:cNvPr id="1041" name="Grafik 1040">
            <a:extLst>
              <a:ext uri="{FF2B5EF4-FFF2-40B4-BE49-F238E27FC236}">
                <a16:creationId xmlns:a16="http://schemas.microsoft.com/office/drawing/2014/main" id="{D61996FF-6DD9-9BD2-46EB-2BEAE78588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8296" y="9565719"/>
            <a:ext cx="8872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32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EA9B3DD-50E9-18D8-FBF0-BA9D70FAB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32" y="471791"/>
            <a:ext cx="7958237" cy="591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00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291C07-5656-813E-03C8-CAF8B776C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Noch einzubauen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53E9C8-14D2-E980-797B-5D1E73615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000" dirty="0"/>
              <a:t>Dokumente: Feedback Berufsbildner (nur durch Berufsbildner editierbar aber auch für Lernende sichtbar)</a:t>
            </a:r>
            <a:br>
              <a:rPr lang="de-DE" sz="2000" dirty="0"/>
            </a:br>
            <a:endParaRPr lang="de-DE" sz="2000" dirty="0"/>
          </a:p>
          <a:p>
            <a:r>
              <a:rPr lang="de-DE" sz="2000" dirty="0"/>
              <a:t>Immer alle 6 Kompetenzstufen bewertbar. Hinten wie gehabt die Max Stufe. Wenn diese erreicht ist Wechsel von grau auf grün</a:t>
            </a:r>
            <a:br>
              <a:rPr lang="de-DE" sz="2000" dirty="0"/>
            </a:br>
            <a:br>
              <a:rPr lang="de-DE" sz="2000" dirty="0"/>
            </a:br>
            <a:br>
              <a:rPr lang="de-DE" sz="2000" dirty="0"/>
            </a:br>
            <a:endParaRPr lang="de-DE" sz="300" dirty="0"/>
          </a:p>
          <a:p>
            <a:r>
              <a:rPr lang="de-DE" sz="2000" dirty="0"/>
              <a:t>Es werden die Dokumente welche zur Bewertung beigetragen haben als Badge aufgeführt und in der Farbe der erreichten Kompetenzstufe bei diesem Leistungsziel eingefärbt. </a:t>
            </a:r>
          </a:p>
          <a:p>
            <a:endParaRPr lang="de-DE" sz="2000" dirty="0"/>
          </a:p>
          <a:p>
            <a:pPr marL="0" indent="0">
              <a:buNone/>
            </a:pPr>
            <a:endParaRPr lang="de-DE" sz="2000" dirty="0"/>
          </a:p>
          <a:p>
            <a:r>
              <a:rPr lang="de-DE" sz="2000" dirty="0"/>
              <a:t> Beim hochladen von Dokument soll Datum angepasst werden können</a:t>
            </a:r>
          </a:p>
          <a:p>
            <a:endParaRPr lang="de-CH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27582DB-5760-1172-D7DA-F8EE1114D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50" t="19359" r="17891" b="44139"/>
          <a:stretch>
            <a:fillRect/>
          </a:stretch>
        </p:blipFill>
        <p:spPr>
          <a:xfrm>
            <a:off x="1126655" y="3393731"/>
            <a:ext cx="3290047" cy="47291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B4E1AF6-0F5C-3F65-03C0-890F5D3F1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612" y="3485592"/>
            <a:ext cx="2781688" cy="381053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C03A4EF-EFC4-CD9A-8193-1A04DFF3280B}"/>
              </a:ext>
            </a:extLst>
          </p:cNvPr>
          <p:cNvSpPr/>
          <p:nvPr/>
        </p:nvSpPr>
        <p:spPr>
          <a:xfrm>
            <a:off x="3538025" y="3539572"/>
            <a:ext cx="527538" cy="2074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dirty="0">
                <a:latin typeface="Inter" panose="02000503000000020004" pitchFamily="2" charset="0"/>
                <a:ea typeface="Inter" panose="02000503000000020004" pitchFamily="2" charset="0"/>
              </a:rPr>
              <a:t>Max: K3</a:t>
            </a:r>
            <a:endParaRPr lang="de-CH" sz="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43D37E4-140A-C24E-5646-BB887B695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55" y="4698073"/>
            <a:ext cx="2781688" cy="381053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A89B38E-6364-23F2-358D-FCD1929D13A8}"/>
              </a:ext>
            </a:extLst>
          </p:cNvPr>
          <p:cNvSpPr/>
          <p:nvPr/>
        </p:nvSpPr>
        <p:spPr>
          <a:xfrm>
            <a:off x="4466448" y="4721722"/>
            <a:ext cx="840679" cy="207499"/>
          </a:xfrm>
          <a:prstGeom prst="rect">
            <a:avLst/>
          </a:prstGeom>
          <a:solidFill>
            <a:srgbClr val="78B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dirty="0">
                <a:latin typeface="Inter" panose="02000503000000020004" pitchFamily="2" charset="0"/>
                <a:ea typeface="Inter" panose="02000503000000020004" pitchFamily="2" charset="0"/>
              </a:rPr>
              <a:t>02-Deployment</a:t>
            </a:r>
            <a:endParaRPr lang="de-CH" sz="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507E0BE-D8DA-EE81-4A73-CFC1FFB38897}"/>
              </a:ext>
            </a:extLst>
          </p:cNvPr>
          <p:cNvSpPr/>
          <p:nvPr/>
        </p:nvSpPr>
        <p:spPr>
          <a:xfrm>
            <a:off x="5383476" y="4721722"/>
            <a:ext cx="840679" cy="207499"/>
          </a:xfrm>
          <a:prstGeom prst="rect">
            <a:avLst/>
          </a:prstGeom>
          <a:solidFill>
            <a:srgbClr val="7AE2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dirty="0">
                <a:latin typeface="Inter" panose="02000503000000020004" pitchFamily="2" charset="0"/>
                <a:ea typeface="Inter" panose="02000503000000020004" pitchFamily="2" charset="0"/>
              </a:rPr>
              <a:t>electron app</a:t>
            </a:r>
            <a:endParaRPr lang="de-CH" sz="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8C12B8A-F9A6-BA0D-6F16-650CAB73875C}"/>
              </a:ext>
            </a:extLst>
          </p:cNvPr>
          <p:cNvSpPr/>
          <p:nvPr/>
        </p:nvSpPr>
        <p:spPr>
          <a:xfrm>
            <a:off x="6308650" y="4721722"/>
            <a:ext cx="840679" cy="207499"/>
          </a:xfrm>
          <a:prstGeom prst="rect">
            <a:avLst/>
          </a:prstGeom>
          <a:solidFill>
            <a:srgbClr val="78B2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de-DE" sz="800" dirty="0">
                <a:latin typeface="Inter" panose="02000503000000020004" pitchFamily="2" charset="0"/>
                <a:ea typeface="Inter" panose="02000503000000020004" pitchFamily="2" charset="0"/>
              </a:rPr>
              <a:t>01-Build</a:t>
            </a:r>
            <a:endParaRPr lang="de-CH" sz="8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3F644CB-D359-B547-19A7-9DCDE28B1950}"/>
              </a:ext>
            </a:extLst>
          </p:cNvPr>
          <p:cNvSpPr/>
          <p:nvPr/>
        </p:nvSpPr>
        <p:spPr>
          <a:xfrm>
            <a:off x="2430585" y="2189898"/>
            <a:ext cx="6299200" cy="5376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tlCol="0" anchor="t" anchorCtr="0"/>
          <a:lstStyle/>
          <a:p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Heinz, das hast du sehr gut gemacht. </a:t>
            </a:r>
            <a:r>
              <a:rPr lang="de-DE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  <a:sym typeface="Wingdings" panose="05000000000000000000" pitchFamily="2" charset="2"/>
              </a:rPr>
              <a:t> </a:t>
            </a:r>
            <a:endParaRPr lang="de-CH" sz="1400" dirty="0">
              <a:solidFill>
                <a:schemeClr val="tx1">
                  <a:lumMod val="85000"/>
                  <a:lumOff val="1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20C50E8-31B2-BC5A-83ED-558280F22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8" t="19359" r="17891" b="44139"/>
          <a:stretch>
            <a:fillRect/>
          </a:stretch>
        </p:blipFill>
        <p:spPr>
          <a:xfrm>
            <a:off x="6935737" y="3400140"/>
            <a:ext cx="1345513" cy="472914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779CFC0-0024-B9D6-3BAD-F3C3D26F2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55" y="4685341"/>
            <a:ext cx="2781688" cy="38105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593A4C0A-96F9-65D5-7473-A286C69B6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58" t="19359" r="17891" b="44139"/>
          <a:stretch>
            <a:fillRect/>
          </a:stretch>
        </p:blipFill>
        <p:spPr>
          <a:xfrm>
            <a:off x="3068780" y="4599889"/>
            <a:ext cx="1345513" cy="47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61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A473501-766F-7A79-54AC-B9B96C0A1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40" y="518706"/>
            <a:ext cx="9916909" cy="5820587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CC9DFFDF-40CD-03C3-AE6F-43DED8971633}"/>
              </a:ext>
            </a:extLst>
          </p:cNvPr>
          <p:cNvSpPr/>
          <p:nvPr/>
        </p:nvSpPr>
        <p:spPr>
          <a:xfrm>
            <a:off x="3732406" y="1391407"/>
            <a:ext cx="445477" cy="445477"/>
          </a:xfrm>
          <a:prstGeom prst="ellipse">
            <a:avLst/>
          </a:prstGeom>
          <a:solidFill>
            <a:schemeClr val="bg1"/>
          </a:solidFill>
          <a:ln>
            <a:solidFill>
              <a:srgbClr val="1D4E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Teilkreis 6">
            <a:extLst>
              <a:ext uri="{FF2B5EF4-FFF2-40B4-BE49-F238E27FC236}">
                <a16:creationId xmlns:a16="http://schemas.microsoft.com/office/drawing/2014/main" id="{AF281E45-4A36-40F8-129A-535FBD26E70B}"/>
              </a:ext>
            </a:extLst>
          </p:cNvPr>
          <p:cNvSpPr/>
          <p:nvPr/>
        </p:nvSpPr>
        <p:spPr>
          <a:xfrm rot="16200000">
            <a:off x="3732406" y="1391407"/>
            <a:ext cx="446400" cy="446400"/>
          </a:xfrm>
          <a:prstGeom prst="pie">
            <a:avLst>
              <a:gd name="adj1" fmla="val 0"/>
              <a:gd name="adj2" fmla="val 7075374"/>
            </a:avLst>
          </a:prstGeom>
          <a:solidFill>
            <a:srgbClr val="1D4E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F666C78-43AA-32D5-44CD-6522BBD7FB8D}"/>
              </a:ext>
            </a:extLst>
          </p:cNvPr>
          <p:cNvSpPr/>
          <p:nvPr/>
        </p:nvSpPr>
        <p:spPr>
          <a:xfrm>
            <a:off x="3726977" y="2247647"/>
            <a:ext cx="445477" cy="445477"/>
          </a:xfrm>
          <a:prstGeom prst="ellipse">
            <a:avLst/>
          </a:prstGeom>
          <a:solidFill>
            <a:schemeClr val="bg1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Teilkreis 8">
            <a:extLst>
              <a:ext uri="{FF2B5EF4-FFF2-40B4-BE49-F238E27FC236}">
                <a16:creationId xmlns:a16="http://schemas.microsoft.com/office/drawing/2014/main" id="{75384F7D-5BC4-E104-5E1E-9E34FEB99D5E}"/>
              </a:ext>
            </a:extLst>
          </p:cNvPr>
          <p:cNvSpPr/>
          <p:nvPr/>
        </p:nvSpPr>
        <p:spPr>
          <a:xfrm rot="16200000">
            <a:off x="3726977" y="2247647"/>
            <a:ext cx="446400" cy="446400"/>
          </a:xfrm>
          <a:prstGeom prst="pie">
            <a:avLst>
              <a:gd name="adj1" fmla="val 0"/>
              <a:gd name="adj2" fmla="val 14257517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75E3F55-DD99-791F-8694-60528975C9DE}"/>
              </a:ext>
            </a:extLst>
          </p:cNvPr>
          <p:cNvSpPr/>
          <p:nvPr/>
        </p:nvSpPr>
        <p:spPr>
          <a:xfrm>
            <a:off x="3732405" y="3074245"/>
            <a:ext cx="445477" cy="445477"/>
          </a:xfrm>
          <a:prstGeom prst="ellipse">
            <a:avLst/>
          </a:prstGeom>
          <a:solidFill>
            <a:schemeClr val="bg1"/>
          </a:solidFill>
          <a:ln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45DFF1C-914B-DEC6-18C4-CBECE0D156A7}"/>
              </a:ext>
            </a:extLst>
          </p:cNvPr>
          <p:cNvSpPr/>
          <p:nvPr/>
        </p:nvSpPr>
        <p:spPr>
          <a:xfrm>
            <a:off x="3732405" y="3925676"/>
            <a:ext cx="445477" cy="445477"/>
          </a:xfrm>
          <a:prstGeom prst="ellipse">
            <a:avLst/>
          </a:prstGeom>
          <a:solidFill>
            <a:schemeClr val="bg1"/>
          </a:solidFill>
          <a:ln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567B026-536F-11B6-65C5-7ACDE615BC03}"/>
              </a:ext>
            </a:extLst>
          </p:cNvPr>
          <p:cNvSpPr/>
          <p:nvPr/>
        </p:nvSpPr>
        <p:spPr>
          <a:xfrm>
            <a:off x="3749411" y="4774871"/>
            <a:ext cx="445477" cy="445477"/>
          </a:xfrm>
          <a:prstGeom prst="ellipse">
            <a:avLst/>
          </a:prstGeom>
          <a:solidFill>
            <a:schemeClr val="bg1"/>
          </a:solidFill>
          <a:ln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367C89B-CD8B-58B9-5437-1AFCF90E673E}"/>
              </a:ext>
            </a:extLst>
          </p:cNvPr>
          <p:cNvSpPr/>
          <p:nvPr/>
        </p:nvSpPr>
        <p:spPr>
          <a:xfrm>
            <a:off x="3732404" y="5623603"/>
            <a:ext cx="445477" cy="445477"/>
          </a:xfrm>
          <a:prstGeom prst="ellipse">
            <a:avLst/>
          </a:prstGeom>
          <a:solidFill>
            <a:schemeClr val="bg1"/>
          </a:solidFill>
          <a:ln>
            <a:solidFill>
              <a:srgbClr val="E2E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3" name="Teilkreis 12">
            <a:extLst>
              <a:ext uri="{FF2B5EF4-FFF2-40B4-BE49-F238E27FC236}">
                <a16:creationId xmlns:a16="http://schemas.microsoft.com/office/drawing/2014/main" id="{F6058134-B42E-525B-2E51-92D26E7691F7}"/>
              </a:ext>
            </a:extLst>
          </p:cNvPr>
          <p:cNvSpPr/>
          <p:nvPr/>
        </p:nvSpPr>
        <p:spPr>
          <a:xfrm rot="16200000">
            <a:off x="3731481" y="5622680"/>
            <a:ext cx="446400" cy="446400"/>
          </a:xfrm>
          <a:prstGeom prst="pie">
            <a:avLst>
              <a:gd name="adj1" fmla="val 0"/>
              <a:gd name="adj2" fmla="val 17618605"/>
            </a:avLst>
          </a:prstGeom>
          <a:solidFill>
            <a:srgbClr val="E2E4E8"/>
          </a:solidFill>
          <a:ln>
            <a:solidFill>
              <a:srgbClr val="E2E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12" name="Teilkreis 11">
            <a:extLst>
              <a:ext uri="{FF2B5EF4-FFF2-40B4-BE49-F238E27FC236}">
                <a16:creationId xmlns:a16="http://schemas.microsoft.com/office/drawing/2014/main" id="{ABE0C885-0CCD-03FA-E1CC-559A2F4F9064}"/>
              </a:ext>
            </a:extLst>
          </p:cNvPr>
          <p:cNvSpPr/>
          <p:nvPr/>
        </p:nvSpPr>
        <p:spPr>
          <a:xfrm rot="16200000">
            <a:off x="3749411" y="4777570"/>
            <a:ext cx="446400" cy="446400"/>
          </a:xfrm>
          <a:prstGeom prst="pie">
            <a:avLst>
              <a:gd name="adj1" fmla="val 0"/>
              <a:gd name="adj2" fmla="val 1060643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11" name="Teilkreis 10">
            <a:extLst>
              <a:ext uri="{FF2B5EF4-FFF2-40B4-BE49-F238E27FC236}">
                <a16:creationId xmlns:a16="http://schemas.microsoft.com/office/drawing/2014/main" id="{0AA461A5-019D-AC13-2937-9D3CA580B3B5}"/>
              </a:ext>
            </a:extLst>
          </p:cNvPr>
          <p:cNvSpPr/>
          <p:nvPr/>
        </p:nvSpPr>
        <p:spPr>
          <a:xfrm rot="16200000">
            <a:off x="3726977" y="3939841"/>
            <a:ext cx="446400" cy="446400"/>
          </a:xfrm>
          <a:prstGeom prst="pie">
            <a:avLst>
              <a:gd name="adj1" fmla="val 0"/>
              <a:gd name="adj2" fmla="val 1749491"/>
            </a:avLst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p:sp>
        <p:nvSpPr>
          <p:cNvPr id="10" name="Teilkreis 9">
            <a:extLst>
              <a:ext uri="{FF2B5EF4-FFF2-40B4-BE49-F238E27FC236}">
                <a16:creationId xmlns:a16="http://schemas.microsoft.com/office/drawing/2014/main" id="{FFC7522E-01E6-9421-ECE8-D388079C4490}"/>
              </a:ext>
            </a:extLst>
          </p:cNvPr>
          <p:cNvSpPr/>
          <p:nvPr/>
        </p:nvSpPr>
        <p:spPr>
          <a:xfrm rot="16200000">
            <a:off x="3726977" y="3075558"/>
            <a:ext cx="446400" cy="446400"/>
          </a:xfrm>
          <a:prstGeom prst="pie">
            <a:avLst>
              <a:gd name="adj1" fmla="val 0"/>
              <a:gd name="adj2" fmla="val 7075374"/>
            </a:avLst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972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C5DE05B9-CB08-2B57-D634-02FAAE03A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7416"/>
            <a:ext cx="12192000" cy="289158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1949BD2-D410-B529-A027-EB9196D42267}"/>
              </a:ext>
            </a:extLst>
          </p:cNvPr>
          <p:cNvSpPr txBox="1"/>
          <p:nvPr/>
        </p:nvSpPr>
        <p:spPr>
          <a:xfrm>
            <a:off x="113543" y="1983208"/>
            <a:ext cx="1378904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04418A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 A</a:t>
            </a:r>
            <a:endParaRPr lang="de-CH" sz="900" b="1" dirty="0">
              <a:solidFill>
                <a:srgbClr val="04418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2EF963C-A270-643D-3AA3-C4A9B6A10DBE}"/>
              </a:ext>
            </a:extLst>
          </p:cNvPr>
          <p:cNvSpPr txBox="1"/>
          <p:nvPr/>
        </p:nvSpPr>
        <p:spPr>
          <a:xfrm>
            <a:off x="2084804" y="1911978"/>
            <a:ext cx="1378904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04418A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 B</a:t>
            </a:r>
            <a:endParaRPr lang="de-CH" sz="900" b="1" dirty="0">
              <a:solidFill>
                <a:srgbClr val="04418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4C1569C-71F4-171C-D73D-F170452786D6}"/>
              </a:ext>
            </a:extLst>
          </p:cNvPr>
          <p:cNvSpPr txBox="1"/>
          <p:nvPr/>
        </p:nvSpPr>
        <p:spPr>
          <a:xfrm>
            <a:off x="4073483" y="1881971"/>
            <a:ext cx="1378904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04418A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 C</a:t>
            </a:r>
            <a:endParaRPr lang="de-CH" sz="900" b="1" dirty="0">
              <a:solidFill>
                <a:srgbClr val="04418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B9D1BCD-273B-CE34-4940-A3157A612FDD}"/>
              </a:ext>
            </a:extLst>
          </p:cNvPr>
          <p:cNvSpPr txBox="1"/>
          <p:nvPr/>
        </p:nvSpPr>
        <p:spPr>
          <a:xfrm>
            <a:off x="6061164" y="1883507"/>
            <a:ext cx="1380506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04418A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 G</a:t>
            </a:r>
            <a:endParaRPr lang="de-CH" sz="900" b="1" dirty="0">
              <a:solidFill>
                <a:srgbClr val="04418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B4DD959-E6DF-9EB8-4401-073D4D3D3CBD}"/>
              </a:ext>
            </a:extLst>
          </p:cNvPr>
          <p:cNvSpPr txBox="1"/>
          <p:nvPr/>
        </p:nvSpPr>
        <p:spPr>
          <a:xfrm>
            <a:off x="8038041" y="1867792"/>
            <a:ext cx="1380506" cy="2308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04418A"/>
                </a:solidFill>
                <a:latin typeface="Inter" panose="02000503000000020004" pitchFamily="2" charset="0"/>
                <a:ea typeface="Inter" panose="02000503000000020004" pitchFamily="2" charset="0"/>
              </a:rPr>
              <a:t>Kompetenzbereich H</a:t>
            </a:r>
            <a:endParaRPr lang="de-CH" sz="900" b="1" dirty="0">
              <a:solidFill>
                <a:srgbClr val="04418A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3074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1BDEB794-C963-38D0-E30F-1D4B1CF6FC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872"/>
          <a:stretch>
            <a:fillRect/>
          </a:stretch>
        </p:blipFill>
        <p:spPr bwMode="auto">
          <a:xfrm>
            <a:off x="677526" y="5003763"/>
            <a:ext cx="6965034" cy="158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7EBA2E8F-C5C8-6C5F-5C08-18D019B3BF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9" r="42872"/>
          <a:stretch>
            <a:fillRect/>
          </a:stretch>
        </p:blipFill>
        <p:spPr bwMode="auto">
          <a:xfrm>
            <a:off x="7490347" y="1836363"/>
            <a:ext cx="304426" cy="2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840668F1-6C21-FD2B-FB92-4B4DB62710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19" r="42872"/>
          <a:stretch>
            <a:fillRect/>
          </a:stretch>
        </p:blipFill>
        <p:spPr bwMode="auto">
          <a:xfrm>
            <a:off x="9467224" y="1820244"/>
            <a:ext cx="304377" cy="27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77F6B6EF-D68B-3DCF-7D4B-90BD1EF81D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9" t="456" r="57232" b="-456"/>
          <a:stretch>
            <a:fillRect/>
          </a:stretch>
        </p:blipFill>
        <p:spPr bwMode="auto">
          <a:xfrm>
            <a:off x="1576766" y="1845264"/>
            <a:ext cx="304426" cy="2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BE8B04E5-FF0F-9C0F-03C1-A6BF190891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5" t="540" r="71946" b="-540"/>
          <a:stretch>
            <a:fillRect/>
          </a:stretch>
        </p:blipFill>
        <p:spPr bwMode="auto">
          <a:xfrm>
            <a:off x="3536466" y="1835914"/>
            <a:ext cx="304426" cy="2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810F2E4B-2A25-3AD2-AA57-CC31D08D3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91" r="86482"/>
          <a:stretch>
            <a:fillRect/>
          </a:stretch>
        </p:blipFill>
        <p:spPr bwMode="auto">
          <a:xfrm>
            <a:off x="5513470" y="1835913"/>
            <a:ext cx="304426" cy="2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532514A4-87BC-96D5-4006-9A71A3EA79BA}"/>
              </a:ext>
            </a:extLst>
          </p:cNvPr>
          <p:cNvCxnSpPr/>
          <p:nvPr/>
        </p:nvCxnSpPr>
        <p:spPr>
          <a:xfrm>
            <a:off x="4152900" y="2547258"/>
            <a:ext cx="1420586" cy="0"/>
          </a:xfrm>
          <a:prstGeom prst="line">
            <a:avLst/>
          </a:prstGeom>
          <a:ln w="57150">
            <a:solidFill>
              <a:srgbClr val="D885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5F3D11B1-A3CC-530B-4279-730209E4FFD8}"/>
              </a:ext>
            </a:extLst>
          </p:cNvPr>
          <p:cNvSpPr txBox="1"/>
          <p:nvPr/>
        </p:nvSpPr>
        <p:spPr>
          <a:xfrm>
            <a:off x="4091022" y="2595458"/>
            <a:ext cx="1500732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800" dirty="0">
                <a:solidFill>
                  <a:srgbClr val="929496"/>
                </a:solidFill>
                <a:latin typeface="Inter" panose="02000503000000020004" pitchFamily="2" charset="0"/>
                <a:ea typeface="Inter" panose="02000503000000020004" pitchFamily="2" charset="0"/>
              </a:rPr>
              <a:t>25/28 Leistungsziele (89%)</a:t>
            </a:r>
            <a:endParaRPr lang="de-CH" sz="800" dirty="0">
              <a:solidFill>
                <a:srgbClr val="92949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2459B60-61CA-E0CF-F916-383048FADE8C}"/>
              </a:ext>
            </a:extLst>
          </p:cNvPr>
          <p:cNvSpPr txBox="1"/>
          <p:nvPr/>
        </p:nvSpPr>
        <p:spPr>
          <a:xfrm>
            <a:off x="802995" y="42238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dirty="0">
                <a:hlinkClick r:id="rId4"/>
              </a:rPr>
              <a:t>Emoji Scale-Bilder: Stock-Fotos &amp; -Videos. | Adobe Stock</a:t>
            </a:r>
            <a:endParaRPr lang="de-CH" dirty="0"/>
          </a:p>
        </p:txBody>
      </p:sp>
      <p:graphicFrame>
        <p:nvGraphicFramePr>
          <p:cNvPr id="20" name="Tabelle 19">
            <a:extLst>
              <a:ext uri="{FF2B5EF4-FFF2-40B4-BE49-F238E27FC236}">
                <a16:creationId xmlns:a16="http://schemas.microsoft.com/office/drawing/2014/main" id="{D98831AA-C53D-AC35-9D9D-13E37AF2A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201889"/>
              </p:ext>
            </p:extLst>
          </p:nvPr>
        </p:nvGraphicFramePr>
        <p:xfrm>
          <a:off x="8728294" y="4017696"/>
          <a:ext cx="213020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306">
                  <a:extLst>
                    <a:ext uri="{9D8B030D-6E8A-4147-A177-3AD203B41FA5}">
                      <a16:colId xmlns:a16="http://schemas.microsoft.com/office/drawing/2014/main" val="375279737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4222525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Fortschritt</a:t>
                      </a:r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Icon</a:t>
                      </a:r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894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0-29</a:t>
                      </a:r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CH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08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20-39</a:t>
                      </a:r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CH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391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40-59</a:t>
                      </a:r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683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60-79</a:t>
                      </a:r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58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80-100</a:t>
                      </a:r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CH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469913"/>
                  </a:ext>
                </a:extLst>
              </a:tr>
            </a:tbl>
          </a:graphicData>
        </a:graphic>
      </p:graphicFrame>
      <p:pic>
        <p:nvPicPr>
          <p:cNvPr id="22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BD50C072-F7E6-6F78-E092-EADCE34AD0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95" t="456" r="42895" b="-456"/>
          <a:stretch>
            <a:fillRect/>
          </a:stretch>
        </p:blipFill>
        <p:spPr bwMode="auto">
          <a:xfrm>
            <a:off x="10320716" y="4815949"/>
            <a:ext cx="304426" cy="2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C45F5DE1-3FDA-236F-13F4-8A4AD49D3F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9" t="456" r="57232" b="-456"/>
          <a:stretch>
            <a:fillRect/>
          </a:stretch>
        </p:blipFill>
        <p:spPr bwMode="auto">
          <a:xfrm>
            <a:off x="10320716" y="5175416"/>
            <a:ext cx="304426" cy="2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4AE25AB5-F5F4-1355-AC80-D7C12FE44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77" t="456" r="72014" b="-456"/>
          <a:stretch>
            <a:fillRect/>
          </a:stretch>
        </p:blipFill>
        <p:spPr bwMode="auto">
          <a:xfrm>
            <a:off x="10320716" y="5547669"/>
            <a:ext cx="304426" cy="2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Customer satisfaction feedback scale vector icon set with emotional faces from happy to angry expressions">
            <a:extLst>
              <a:ext uri="{FF2B5EF4-FFF2-40B4-BE49-F238E27FC236}">
                <a16:creationId xmlns:a16="http://schemas.microsoft.com/office/drawing/2014/main" id="{7EE75129-3A31-A1CA-65AA-9CA7F6BA86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83" r="86574"/>
          <a:stretch>
            <a:fillRect/>
          </a:stretch>
        </p:blipFill>
        <p:spPr bwMode="auto">
          <a:xfrm>
            <a:off x="10320716" y="5919922"/>
            <a:ext cx="304426" cy="2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Ellipse 26">
            <a:extLst>
              <a:ext uri="{FF2B5EF4-FFF2-40B4-BE49-F238E27FC236}">
                <a16:creationId xmlns:a16="http://schemas.microsoft.com/office/drawing/2014/main" id="{1F6C7008-386F-EC10-DC05-BABD06045261}"/>
              </a:ext>
            </a:extLst>
          </p:cNvPr>
          <p:cNvSpPr/>
          <p:nvPr/>
        </p:nvSpPr>
        <p:spPr>
          <a:xfrm>
            <a:off x="10339077" y="4445071"/>
            <a:ext cx="262941" cy="262941"/>
          </a:xfrm>
          <a:prstGeom prst="ellipse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4208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AB653506-3FCA-47F1-8EB9-DE15733C3CC0}" vid="{9909355A-567F-4A72-8D3A-5F851F836C5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7F3C79-4160-4997-96B6-2BFDFD312D29}">
  <we:reference id="22ff87a5-132f-4d52-9e97-94d888e4dd91" version="3.1.0.0" store="EXCatalog" storeType="EXCatalog"/>
  <we:alternateReferences>
    <we:reference id="WA104380050" version="3.1.0.0" store="de-CH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903E6EB9CF02E4A9D445768F33CE8A0" ma:contentTypeVersion="10" ma:contentTypeDescription="Ein neues Dokument erstellen." ma:contentTypeScope="" ma:versionID="6ae922be011154ab15be9f8e392bd017">
  <xsd:schema xmlns:xsd="http://www.w3.org/2001/XMLSchema" xmlns:xs="http://www.w3.org/2001/XMLSchema" xmlns:p="http://schemas.microsoft.com/office/2006/metadata/properties" xmlns:ns2="9c9658b7-70b6-4a85-98d8-6fbbaa45c305" xmlns:ns3="469fef08-e3b5-4743-af2d-0bc6e31c71c1" targetNamespace="http://schemas.microsoft.com/office/2006/metadata/properties" ma:root="true" ma:fieldsID="d06d8b5c4036d08665a49476e2e0a1f7" ns2:_="" ns3:_="">
    <xsd:import namespace="9c9658b7-70b6-4a85-98d8-6fbbaa45c305"/>
    <xsd:import namespace="469fef08-e3b5-4743-af2d-0bc6e31c71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658b7-70b6-4a85-98d8-6fbbaa45c3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9fef08-e3b5-4743-af2d-0bc6e31c71c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2986CD-197A-4468-86BE-3B92D1F3A3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9658b7-70b6-4a85-98d8-6fbbaa45c305"/>
    <ds:schemaRef ds:uri="469fef08-e3b5-4743-af2d-0bc6e31c71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42DFFD-79F5-4A5C-AA26-F25068E4ED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12B2BA-1F5C-4F4C-B5F6-B93D42A3350F}">
  <ds:schemaRefs>
    <ds:schemaRef ds:uri="http://purl.org/dc/elements/1.1/"/>
    <ds:schemaRef ds:uri="http://www.w3.org/XML/1998/namespace"/>
    <ds:schemaRef ds:uri="469fef08-e3b5-4743-af2d-0bc6e31c71c1"/>
    <ds:schemaRef ds:uri="http://schemas.microsoft.com/office/infopath/2007/PartnerControls"/>
    <ds:schemaRef ds:uri="http://purl.org/dc/dcmitype/"/>
    <ds:schemaRef ds:uri="9c9658b7-70b6-4a85-98d8-6fbbaa45c305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1207</Words>
  <Application>Microsoft Office PowerPoint</Application>
  <PresentationFormat>Breitbild</PresentationFormat>
  <Paragraphs>453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Inter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Noch einzubauen</vt:lpstr>
      <vt:lpstr>PowerPoint-Präsentation</vt:lpstr>
      <vt:lpstr>PowerPoint-Präsentation</vt:lpstr>
    </vt:vector>
  </TitlesOfParts>
  <Company>Fachhochschule Nordwestschweiz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Iwo Kuhn</dc:creator>
  <cp:lastModifiedBy>Iwo Kuhn</cp:lastModifiedBy>
  <cp:revision>27</cp:revision>
  <dcterms:created xsi:type="dcterms:W3CDTF">2026-05-29T08:03:37Z</dcterms:created>
  <dcterms:modified xsi:type="dcterms:W3CDTF">2026-06-12T05:44:26Z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0x0101007903E6EB9CF02E4A9D445768F33CE8A0</vt:lpwstr>
  </property>
</Properties>
</file>